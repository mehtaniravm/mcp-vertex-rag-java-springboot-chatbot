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6459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4688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918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1148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9377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7607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65836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8229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16459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24688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32918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41148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49377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" y="57607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65836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45920" y="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645920" y="8229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645920" y="16459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45920" y="24688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45920" y="32918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0" y="41148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45920" y="49377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645920" y="57607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645920" y="65836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468880" y="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468880" y="8229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468880" y="16459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468880" y="24688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468880" y="32918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468880" y="41148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468880" y="49377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468880" y="57607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468880" y="65836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91840" y="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291840" y="8229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91840" y="16459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91840" y="24688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291840" y="32918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291840" y="41148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91840" y="49377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291840" y="57607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291840" y="65836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114800" y="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114800" y="8229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114800" y="16459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114800" y="24688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114800" y="32918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114800" y="41148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114800" y="49377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114800" y="57607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114800" y="65836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937760" y="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937760" y="8229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937760" y="16459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937760" y="24688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937760" y="32918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937760" y="41148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937760" y="49377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937760" y="57607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937760" y="65836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760720" y="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760720" y="8229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760720" y="16459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760720" y="24688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760720" y="32918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760720" y="41148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5760720" y="49377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5760720" y="57607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5760720" y="65836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583680" y="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583680" y="8229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583680" y="16459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583680" y="24688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583680" y="32918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583680" y="41148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583680" y="49377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583680" y="57607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583680" y="65836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406640" y="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7406640" y="8229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7406640" y="16459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7406640" y="24688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7406640" y="32918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7406640" y="41148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7406640" y="49377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7406640" y="57607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7406640" y="65836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8229600" y="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8229600" y="8229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8229600" y="16459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8229600" y="24688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8229600" y="32918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8229600" y="41148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8229600" y="49377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8229600" y="57607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8229600" y="65836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9052560" y="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9052560" y="8229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9052560" y="16459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9052560" y="24688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9052560" y="32918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9052560" y="41148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9052560" y="49377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9052560" y="57607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9052560" y="65836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9875520" y="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9875520" y="8229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9875520" y="16459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9875520" y="24688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9875520" y="32918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9875520" y="41148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9875520" y="49377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9875520" y="57607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9875520" y="65836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10698480" y="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10698480" y="8229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10698480" y="16459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10698480" y="24688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10698480" y="32918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10698480" y="41148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10698480" y="49377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10698480" y="57607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10698480" y="65836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11521440" y="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11521440" y="8229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11521440" y="16459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11521440" y="24688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11521440" y="32918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11521440" y="41148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11521440" y="49377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11521440" y="57607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11521440" y="65836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2880360" y="914400"/>
            <a:ext cx="6400800" cy="5029200"/>
          </a:xfrm>
          <a:prstGeom prst="ellipse">
            <a:avLst/>
          </a:prstGeom>
          <a:solidFill>
            <a:srgbClr val="1A73E8">
              <a:alpha val="12000"/>
            </a:srgbClr>
          </a:solidFill>
          <a:ln w="12700">
            <a:solidFill>
              <a:srgbClr val="0A1628">
                <a:alpha val="0"/>
              </a:srgbClr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914400" y="1005840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42A5F5"/>
                </a:solidFill>
              </a:rPr>
              <a:t>OUR ORGANIZATION  ·  INTERNAL AI INNOVATION</a:t>
            </a:r>
            <a:endParaRPr lang="en-US" sz="1000" dirty="0"/>
          </a:p>
        </p:txBody>
      </p:sp>
      <p:sp>
        <p:nvSpPr>
          <p:cNvPr id="139" name="Text 137"/>
          <p:cNvSpPr/>
          <p:nvPr/>
        </p:nvSpPr>
        <p:spPr>
          <a:xfrm>
            <a:off x="731520" y="1463040"/>
            <a:ext cx="106984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Internal </a:t>
            </a:r>
            <a:pPr algn="ctr" indent="0" marL="0">
              <a:buNone/>
            </a:pPr>
            <a:r>
              <a:rPr lang="en-US" sz="4400" b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</a:t>
            </a:r>
            <a:pPr algn="ctr" indent="0" marL="0">
              <a:buNone/>
            </a:pP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Google Cloud</a:t>
            </a:r>
            <a:endParaRPr lang="en-US" sz="4400" dirty="0"/>
          </a:p>
        </p:txBody>
      </p:sp>
      <p:sp>
        <p:nvSpPr>
          <p:cNvPr id="140" name="Text 138"/>
          <p:cNvSpPr/>
          <p:nvPr/>
        </p:nvSpPr>
        <p:spPr>
          <a:xfrm>
            <a:off x="1097280" y="3474720"/>
            <a:ext cx="9966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ACCEE"/>
                </a:solidFill>
              </a:rPr>
              <a:t>MCP Server · Vertex AI (Gemini) · RAG · PostgreSQL · Spring Boot · Embeddable Widget</a:t>
            </a:r>
            <a:endParaRPr lang="en-US" sz="1500" dirty="0"/>
          </a:p>
        </p:txBody>
      </p:sp>
      <p:sp>
        <p:nvSpPr>
          <p:cNvPr id="141" name="Shape 139"/>
          <p:cNvSpPr/>
          <p:nvPr/>
        </p:nvSpPr>
        <p:spPr>
          <a:xfrm>
            <a:off x="502920" y="4114800"/>
            <a:ext cx="1737360" cy="320040"/>
          </a:xfrm>
          <a:prstGeom prst="roundRect">
            <a:avLst>
              <a:gd name="adj" fmla="val 28571"/>
            </a:avLst>
          </a:prstGeom>
          <a:solidFill>
            <a:srgbClr val="1A73E8">
              <a:alpha val="22000"/>
            </a:srgbClr>
          </a:solidFill>
          <a:ln w="12700">
            <a:solidFill>
              <a:srgbClr val="42A5F5">
                <a:alpha val="50000"/>
              </a:srgbClr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502920" y="41148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2A5F5"/>
                </a:solidFill>
              </a:rPr>
              <a:t>MCP Server</a:t>
            </a:r>
            <a:endParaRPr lang="en-US" sz="950" dirty="0"/>
          </a:p>
        </p:txBody>
      </p:sp>
      <p:sp>
        <p:nvSpPr>
          <p:cNvPr id="143" name="Shape 141"/>
          <p:cNvSpPr/>
          <p:nvPr/>
        </p:nvSpPr>
        <p:spPr>
          <a:xfrm>
            <a:off x="2377440" y="4114800"/>
            <a:ext cx="1737360" cy="320040"/>
          </a:xfrm>
          <a:prstGeom prst="roundRect">
            <a:avLst>
              <a:gd name="adj" fmla="val 28571"/>
            </a:avLst>
          </a:prstGeom>
          <a:solidFill>
            <a:srgbClr val="1A73E8">
              <a:alpha val="22000"/>
            </a:srgbClr>
          </a:solidFill>
          <a:ln w="12700">
            <a:solidFill>
              <a:srgbClr val="42A5F5">
                <a:alpha val="50000"/>
              </a:srgbClr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2377440" y="41148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2A5F5"/>
                </a:solidFill>
              </a:rPr>
              <a:t>Vertex AI</a:t>
            </a:r>
            <a:endParaRPr lang="en-US" sz="950" dirty="0"/>
          </a:p>
        </p:txBody>
      </p:sp>
      <p:sp>
        <p:nvSpPr>
          <p:cNvPr id="145" name="Shape 143"/>
          <p:cNvSpPr/>
          <p:nvPr/>
        </p:nvSpPr>
        <p:spPr>
          <a:xfrm>
            <a:off x="4251960" y="4114800"/>
            <a:ext cx="1737360" cy="320040"/>
          </a:xfrm>
          <a:prstGeom prst="roundRect">
            <a:avLst>
              <a:gd name="adj" fmla="val 28571"/>
            </a:avLst>
          </a:prstGeom>
          <a:solidFill>
            <a:srgbClr val="1A73E8">
              <a:alpha val="22000"/>
            </a:srgbClr>
          </a:solidFill>
          <a:ln w="12700">
            <a:solidFill>
              <a:srgbClr val="42A5F5">
                <a:alpha val="50000"/>
              </a:srgbClr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4251960" y="41148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2A5F5"/>
                </a:solidFill>
              </a:rPr>
              <a:t>RAG</a:t>
            </a:r>
            <a:endParaRPr lang="en-US" sz="950" dirty="0"/>
          </a:p>
        </p:txBody>
      </p:sp>
      <p:sp>
        <p:nvSpPr>
          <p:cNvPr id="147" name="Shape 145"/>
          <p:cNvSpPr/>
          <p:nvPr/>
        </p:nvSpPr>
        <p:spPr>
          <a:xfrm>
            <a:off x="6126480" y="4114800"/>
            <a:ext cx="1737360" cy="320040"/>
          </a:xfrm>
          <a:prstGeom prst="roundRect">
            <a:avLst>
              <a:gd name="adj" fmla="val 28571"/>
            </a:avLst>
          </a:prstGeom>
          <a:solidFill>
            <a:srgbClr val="1A73E8">
              <a:alpha val="22000"/>
            </a:srgbClr>
          </a:solidFill>
          <a:ln w="12700">
            <a:solidFill>
              <a:srgbClr val="42A5F5">
                <a:alpha val="50000"/>
              </a:srgbClr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6126480" y="41148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2A5F5"/>
                </a:solidFill>
              </a:rPr>
              <a:t>Spring Boot</a:t>
            </a:r>
            <a:endParaRPr lang="en-US" sz="950" dirty="0"/>
          </a:p>
        </p:txBody>
      </p:sp>
      <p:sp>
        <p:nvSpPr>
          <p:cNvPr id="149" name="Shape 147"/>
          <p:cNvSpPr/>
          <p:nvPr/>
        </p:nvSpPr>
        <p:spPr>
          <a:xfrm>
            <a:off x="8001000" y="4114800"/>
            <a:ext cx="1737360" cy="320040"/>
          </a:xfrm>
          <a:prstGeom prst="roundRect">
            <a:avLst>
              <a:gd name="adj" fmla="val 28571"/>
            </a:avLst>
          </a:prstGeom>
          <a:solidFill>
            <a:srgbClr val="1A73E8">
              <a:alpha val="22000"/>
            </a:srgbClr>
          </a:solidFill>
          <a:ln w="12700">
            <a:solidFill>
              <a:srgbClr val="42A5F5">
                <a:alpha val="50000"/>
              </a:srgbClr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8001000" y="41148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2A5F5"/>
                </a:solidFill>
              </a:rPr>
              <a:t>Cloud Run</a:t>
            </a:r>
            <a:endParaRPr lang="en-US" sz="950" dirty="0"/>
          </a:p>
        </p:txBody>
      </p:sp>
      <p:sp>
        <p:nvSpPr>
          <p:cNvPr id="151" name="Shape 149"/>
          <p:cNvSpPr/>
          <p:nvPr/>
        </p:nvSpPr>
        <p:spPr>
          <a:xfrm>
            <a:off x="9875520" y="4114800"/>
            <a:ext cx="1737360" cy="320040"/>
          </a:xfrm>
          <a:prstGeom prst="roundRect">
            <a:avLst>
              <a:gd name="adj" fmla="val 28571"/>
            </a:avLst>
          </a:prstGeom>
          <a:solidFill>
            <a:srgbClr val="1A73E8">
              <a:alpha val="22000"/>
            </a:srgbClr>
          </a:solidFill>
          <a:ln w="12700">
            <a:solidFill>
              <a:srgbClr val="42A5F5">
                <a:alpha val="50000"/>
              </a:srgbClr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9875520" y="41148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2A5F5"/>
                </a:solidFill>
              </a:rPr>
              <a:t>Web Widget</a:t>
            </a:r>
            <a:endParaRPr lang="en-US" sz="950" dirty="0"/>
          </a:p>
        </p:txBody>
      </p:sp>
      <p:sp>
        <p:nvSpPr>
          <p:cNvPr id="153" name="Text 151"/>
          <p:cNvSpPr/>
          <p:nvPr/>
        </p:nvSpPr>
        <p:spPr>
          <a:xfrm>
            <a:off x="914400" y="6309360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45566"/>
                </a:solidFill>
              </a:rPr>
              <a:t>Designed by Curiosity. Built by Discipline. Delivered by Nirav Mehta.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338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2A5F5"/>
                </a:solidFill>
              </a:rPr>
              <a:t>THE PROBLEM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11480" y="621792"/>
            <a:ext cx="11338560" cy="0"/>
          </a:xfrm>
          <a:prstGeom prst="line">
            <a:avLst/>
          </a:prstGeom>
          <a:noFill/>
          <a:ln w="19050">
            <a:solidFill>
              <a:srgbClr val="42A5F5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8368"/>
            <a:ext cx="11338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Organization Drowns in Its Own Language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508760"/>
            <a:ext cx="5486400" cy="2103120"/>
          </a:xfrm>
          <a:prstGeom prst="roundRect">
            <a:avLst>
              <a:gd name="adj" fmla="val 5217"/>
            </a:avLst>
          </a:prstGeom>
          <a:solidFill>
            <a:srgbClr val="1C2E44"/>
          </a:solidFill>
          <a:ln w="12700">
            <a:solidFill>
              <a:srgbClr val="2A406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76072" y="16459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76072" y="1984248"/>
            <a:ext cx="51572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2A5F5"/>
                </a:solidFill>
              </a:rPr>
              <a:t>Acronym Overload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76072" y="2286000"/>
            <a:ext cx="5157216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BBCC"/>
                </a:solidFill>
              </a:rPr>
              <a:t>New members spend weeks decoding SLAs, KPIs, MTTR, RBAC — terms that live only in tribal knowledge.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76072" y="3319272"/>
            <a:ext cx="1280160" cy="201168"/>
          </a:xfrm>
          <a:prstGeom prst="roundRect">
            <a:avLst>
              <a:gd name="adj" fmla="val 27273"/>
            </a:avLst>
          </a:prstGeom>
          <a:solidFill>
            <a:srgbClr val="1A4070"/>
          </a:solidFill>
          <a:ln w="12700">
            <a:solidFill>
              <a:srgbClr val="1A73E8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6072" y="3319272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2A5F5"/>
                </a:solidFill>
              </a:rPr>
              <a:t>Operations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6309360" y="1508760"/>
            <a:ext cx="5486400" cy="2103120"/>
          </a:xfrm>
          <a:prstGeom prst="roundRect">
            <a:avLst>
              <a:gd name="adj" fmla="val 5217"/>
            </a:avLst>
          </a:prstGeom>
          <a:solidFill>
            <a:srgbClr val="1C2E44"/>
          </a:solidFill>
          <a:ln w="12700">
            <a:solidFill>
              <a:srgbClr val="2A406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73952" y="16459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73952" y="1984248"/>
            <a:ext cx="51572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2A5F5"/>
                </a:solidFill>
              </a:rPr>
              <a:t>Data Requires SQL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73952" y="2286000"/>
            <a:ext cx="5157216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BBCC"/>
                </a:solidFill>
              </a:rPr>
              <a:t>Business stakeholders depend on engineering for reports. Dashboards are static. Questions go unanswered.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473952" y="3319272"/>
            <a:ext cx="1078992" cy="201168"/>
          </a:xfrm>
          <a:prstGeom prst="roundRect">
            <a:avLst>
              <a:gd name="adj" fmla="val 27273"/>
            </a:avLst>
          </a:prstGeom>
          <a:solidFill>
            <a:srgbClr val="1A4070"/>
          </a:solidFill>
          <a:ln w="12700">
            <a:solidFill>
              <a:srgbClr val="1A73E8">
                <a:alpha val="5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73952" y="3319272"/>
            <a:ext cx="10789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2A5F5"/>
                </a:solidFill>
              </a:rPr>
              <a:t>Business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11480" y="3840480"/>
            <a:ext cx="5486400" cy="2103120"/>
          </a:xfrm>
          <a:prstGeom prst="roundRect">
            <a:avLst>
              <a:gd name="adj" fmla="val 5217"/>
            </a:avLst>
          </a:prstGeom>
          <a:solidFill>
            <a:srgbClr val="1C2E44"/>
          </a:solidFill>
          <a:ln w="12700">
            <a:solidFill>
              <a:srgbClr val="2A406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76072" y="39776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🔁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76072" y="4315968"/>
            <a:ext cx="51572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2A5F5"/>
                </a:solidFill>
              </a:rPr>
              <a:t>Repeated Interruptions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76072" y="4617720"/>
            <a:ext cx="5157216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BBCC"/>
                </a:solidFill>
              </a:rPr>
              <a:t>Senior engineers answer the same onboarding questions repeatedly. Every interruption costs focus time.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76072" y="5650992"/>
            <a:ext cx="978408" cy="201168"/>
          </a:xfrm>
          <a:prstGeom prst="roundRect">
            <a:avLst>
              <a:gd name="adj" fmla="val 27273"/>
            </a:avLst>
          </a:prstGeom>
          <a:solidFill>
            <a:srgbClr val="1A4070"/>
          </a:solidFill>
          <a:ln w="12700">
            <a:solidFill>
              <a:srgbClr val="1A73E8">
                <a:alpha val="5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6072" y="5650992"/>
            <a:ext cx="9784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2A5F5"/>
                </a:solidFill>
              </a:rPr>
              <a:t>Culture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6309360" y="3840480"/>
            <a:ext cx="5486400" cy="2103120"/>
          </a:xfrm>
          <a:prstGeom prst="roundRect">
            <a:avLst>
              <a:gd name="adj" fmla="val 5217"/>
            </a:avLst>
          </a:prstGeom>
          <a:solidFill>
            <a:srgbClr val="1C2E44"/>
          </a:solidFill>
          <a:ln w="12700">
            <a:solidFill>
              <a:srgbClr val="2A406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473952" y="39776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🏝️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473952" y="4315968"/>
            <a:ext cx="51572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2A5F5"/>
                </a:solidFill>
              </a:rPr>
              <a:t>Knowledge Silos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73952" y="4617720"/>
            <a:ext cx="5157216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BBCC"/>
                </a:solidFill>
              </a:rPr>
              <a:t>Critical knowledge lives in people's heads. When they leave, it leaves. Documentation is never where you need it.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473952" y="5650992"/>
            <a:ext cx="1179576" cy="201168"/>
          </a:xfrm>
          <a:prstGeom prst="roundRect">
            <a:avLst>
              <a:gd name="adj" fmla="val 27273"/>
            </a:avLst>
          </a:prstGeom>
          <a:solidFill>
            <a:srgbClr val="1A4070"/>
          </a:solidFill>
          <a:ln w="12700">
            <a:solidFill>
              <a:srgbClr val="1A73E8">
                <a:alpha val="5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73952" y="5650992"/>
            <a:ext cx="11795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2A5F5"/>
                </a:solidFill>
              </a:rPr>
              <a:t>Knowledge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" cy="36576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36576" cy="36576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645920"/>
            <a:ext cx="36576" cy="36576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468880"/>
            <a:ext cx="36576" cy="36576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91840"/>
            <a:ext cx="36576" cy="36576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114800"/>
            <a:ext cx="36576" cy="36576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937760"/>
            <a:ext cx="36576" cy="36576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760720"/>
            <a:ext cx="36576" cy="36576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6583680"/>
            <a:ext cx="36576" cy="36576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0"/>
            <a:ext cx="36576" cy="36576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822960"/>
            <a:ext cx="36576" cy="36576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1645920"/>
            <a:ext cx="36576" cy="36576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2468880"/>
            <a:ext cx="36576" cy="36576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3291840"/>
            <a:ext cx="36576" cy="36576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4114800"/>
            <a:ext cx="36576" cy="36576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4937760"/>
            <a:ext cx="36576" cy="36576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" y="5760720"/>
            <a:ext cx="36576" cy="36576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6583680"/>
            <a:ext cx="36576" cy="36576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45920" y="0"/>
            <a:ext cx="36576" cy="36576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645920" y="822960"/>
            <a:ext cx="36576" cy="36576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645920" y="1645920"/>
            <a:ext cx="36576" cy="36576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45920" y="2468880"/>
            <a:ext cx="36576" cy="36576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45920" y="3291840"/>
            <a:ext cx="36576" cy="36576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0" y="4114800"/>
            <a:ext cx="36576" cy="36576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45920" y="4937760"/>
            <a:ext cx="36576" cy="36576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645920" y="5760720"/>
            <a:ext cx="36576" cy="36576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645920" y="6583680"/>
            <a:ext cx="36576" cy="36576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468880" y="0"/>
            <a:ext cx="36576" cy="36576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468880" y="822960"/>
            <a:ext cx="36576" cy="36576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468880" y="1645920"/>
            <a:ext cx="36576" cy="36576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468880" y="2468880"/>
            <a:ext cx="36576" cy="36576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468880" y="3291840"/>
            <a:ext cx="36576" cy="36576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468880" y="4114800"/>
            <a:ext cx="36576" cy="36576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468880" y="4937760"/>
            <a:ext cx="36576" cy="36576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468880" y="5760720"/>
            <a:ext cx="36576" cy="36576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468880" y="6583680"/>
            <a:ext cx="36576" cy="36576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91840" y="0"/>
            <a:ext cx="36576" cy="36576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291840" y="822960"/>
            <a:ext cx="36576" cy="36576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91840" y="1645920"/>
            <a:ext cx="36576" cy="36576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91840" y="2468880"/>
            <a:ext cx="36576" cy="36576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291840" y="3291840"/>
            <a:ext cx="36576" cy="36576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291840" y="4114800"/>
            <a:ext cx="36576" cy="36576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91840" y="4937760"/>
            <a:ext cx="36576" cy="36576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291840" y="5760720"/>
            <a:ext cx="36576" cy="36576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291840" y="6583680"/>
            <a:ext cx="36576" cy="36576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114800" y="0"/>
            <a:ext cx="36576" cy="36576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114800" y="822960"/>
            <a:ext cx="36576" cy="36576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114800" y="1645920"/>
            <a:ext cx="36576" cy="36576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114800" y="2468880"/>
            <a:ext cx="36576" cy="36576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114800" y="3291840"/>
            <a:ext cx="36576" cy="36576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114800" y="4114800"/>
            <a:ext cx="36576" cy="36576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114800" y="4937760"/>
            <a:ext cx="36576" cy="36576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114800" y="5760720"/>
            <a:ext cx="36576" cy="36576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114800" y="6583680"/>
            <a:ext cx="36576" cy="36576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937760" y="0"/>
            <a:ext cx="36576" cy="36576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937760" y="822960"/>
            <a:ext cx="36576" cy="36576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937760" y="1645920"/>
            <a:ext cx="36576" cy="36576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937760" y="2468880"/>
            <a:ext cx="36576" cy="36576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937760" y="3291840"/>
            <a:ext cx="36576" cy="36576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937760" y="4114800"/>
            <a:ext cx="36576" cy="36576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937760" y="4937760"/>
            <a:ext cx="36576" cy="36576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937760" y="5760720"/>
            <a:ext cx="36576" cy="36576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937760" y="6583680"/>
            <a:ext cx="36576" cy="36576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760720" y="0"/>
            <a:ext cx="36576" cy="36576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760720" y="822960"/>
            <a:ext cx="36576" cy="36576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760720" y="1645920"/>
            <a:ext cx="36576" cy="36576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760720" y="2468880"/>
            <a:ext cx="36576" cy="36576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760720" y="3291840"/>
            <a:ext cx="36576" cy="36576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760720" y="4114800"/>
            <a:ext cx="36576" cy="36576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5760720" y="4937760"/>
            <a:ext cx="36576" cy="36576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5760720" y="5760720"/>
            <a:ext cx="36576" cy="36576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5760720" y="6583680"/>
            <a:ext cx="36576" cy="36576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583680" y="0"/>
            <a:ext cx="36576" cy="36576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583680" y="822960"/>
            <a:ext cx="36576" cy="36576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583680" y="1645920"/>
            <a:ext cx="36576" cy="36576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583680" y="2468880"/>
            <a:ext cx="36576" cy="36576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583680" y="3291840"/>
            <a:ext cx="36576" cy="36576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583680" y="4114800"/>
            <a:ext cx="36576" cy="36576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583680" y="4937760"/>
            <a:ext cx="36576" cy="36576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583680" y="5760720"/>
            <a:ext cx="36576" cy="36576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583680" y="6583680"/>
            <a:ext cx="36576" cy="36576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406640" y="0"/>
            <a:ext cx="36576" cy="36576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7406640" y="822960"/>
            <a:ext cx="36576" cy="36576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7406640" y="1645920"/>
            <a:ext cx="36576" cy="36576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7406640" y="2468880"/>
            <a:ext cx="36576" cy="36576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7406640" y="3291840"/>
            <a:ext cx="36576" cy="36576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7406640" y="4114800"/>
            <a:ext cx="36576" cy="36576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7406640" y="4937760"/>
            <a:ext cx="36576" cy="36576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7406640" y="5760720"/>
            <a:ext cx="36576" cy="36576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7406640" y="6583680"/>
            <a:ext cx="36576" cy="36576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8229600" y="0"/>
            <a:ext cx="36576" cy="36576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8229600" y="822960"/>
            <a:ext cx="36576" cy="36576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8229600" y="1645920"/>
            <a:ext cx="36576" cy="36576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8229600" y="2468880"/>
            <a:ext cx="36576" cy="36576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8229600" y="3291840"/>
            <a:ext cx="36576" cy="36576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8229600" y="4114800"/>
            <a:ext cx="36576" cy="36576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8229600" y="4937760"/>
            <a:ext cx="36576" cy="36576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8229600" y="5760720"/>
            <a:ext cx="36576" cy="36576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8229600" y="6583680"/>
            <a:ext cx="36576" cy="36576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9052560" y="0"/>
            <a:ext cx="36576" cy="36576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9052560" y="822960"/>
            <a:ext cx="36576" cy="36576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9052560" y="1645920"/>
            <a:ext cx="36576" cy="36576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9052560" y="2468880"/>
            <a:ext cx="36576" cy="36576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9052560" y="3291840"/>
            <a:ext cx="36576" cy="36576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9052560" y="4114800"/>
            <a:ext cx="36576" cy="36576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9052560" y="4937760"/>
            <a:ext cx="36576" cy="36576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9052560" y="5760720"/>
            <a:ext cx="36576" cy="36576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9052560" y="6583680"/>
            <a:ext cx="36576" cy="36576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9875520" y="0"/>
            <a:ext cx="36576" cy="36576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9875520" y="822960"/>
            <a:ext cx="36576" cy="36576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9875520" y="1645920"/>
            <a:ext cx="36576" cy="36576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9875520" y="2468880"/>
            <a:ext cx="36576" cy="36576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9875520" y="3291840"/>
            <a:ext cx="36576" cy="36576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9875520" y="4114800"/>
            <a:ext cx="36576" cy="36576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9875520" y="4937760"/>
            <a:ext cx="36576" cy="36576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9875520" y="5760720"/>
            <a:ext cx="36576" cy="36576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9875520" y="6583680"/>
            <a:ext cx="36576" cy="36576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10698480" y="0"/>
            <a:ext cx="36576" cy="36576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10698480" y="822960"/>
            <a:ext cx="36576" cy="36576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10698480" y="1645920"/>
            <a:ext cx="36576" cy="36576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10698480" y="2468880"/>
            <a:ext cx="36576" cy="36576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10698480" y="3291840"/>
            <a:ext cx="36576" cy="36576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10698480" y="4114800"/>
            <a:ext cx="36576" cy="36576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10698480" y="4937760"/>
            <a:ext cx="36576" cy="36576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10698480" y="5760720"/>
            <a:ext cx="36576" cy="36576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10698480" y="6583680"/>
            <a:ext cx="36576" cy="36576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11521440" y="0"/>
            <a:ext cx="36576" cy="36576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11521440" y="822960"/>
            <a:ext cx="36576" cy="36576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11521440" y="1645920"/>
            <a:ext cx="36576" cy="36576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11521440" y="2468880"/>
            <a:ext cx="36576" cy="36576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11521440" y="3291840"/>
            <a:ext cx="36576" cy="36576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11521440" y="4114800"/>
            <a:ext cx="36576" cy="36576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11521440" y="4937760"/>
            <a:ext cx="36576" cy="36576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11521440" y="5760720"/>
            <a:ext cx="36576" cy="36576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11521440" y="6583680"/>
            <a:ext cx="36576" cy="36576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914400" y="365760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42A5F5"/>
                </a:solidFill>
              </a:rPr>
              <a:t>THE SOLUTION</a:t>
            </a:r>
            <a:endParaRPr lang="en-US" sz="900" dirty="0"/>
          </a:p>
        </p:txBody>
      </p:sp>
      <p:sp>
        <p:nvSpPr>
          <p:cNvPr id="138" name="Text 136"/>
          <p:cNvSpPr/>
          <p:nvPr/>
        </p:nvSpPr>
        <p:spPr>
          <a:xfrm>
            <a:off x="731520" y="73152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One Script Tag. Infinite Organizational Knowledge.</a:t>
            </a:r>
            <a:endParaRPr lang="en-US" sz="2800" dirty="0"/>
          </a:p>
        </p:txBody>
      </p:sp>
      <p:sp>
        <p:nvSpPr>
          <p:cNvPr id="139" name="Shape 137"/>
          <p:cNvSpPr/>
          <p:nvPr/>
        </p:nvSpPr>
        <p:spPr>
          <a:xfrm>
            <a:off x="2011680" y="1737360"/>
            <a:ext cx="8138160" cy="2560320"/>
          </a:xfrm>
          <a:prstGeom prst="roundRect">
            <a:avLst>
              <a:gd name="adj" fmla="val 5000"/>
            </a:avLst>
          </a:prstGeom>
          <a:solidFill>
            <a:srgbClr val="0D1117"/>
          </a:solidFill>
          <a:ln w="12700">
            <a:solidFill>
              <a:srgbClr val="42A5F5">
                <a:alpha val="40000"/>
              </a:srgbClr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2286000" y="1828800"/>
            <a:ext cx="758952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src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3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"chatbot-widget.js"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data-api-url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3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"https://chatbot-api.run.app/api/chat"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data-title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3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"AI Assistant"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defer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&lt;/script&gt;</a:t>
            </a:r>
            <a:endParaRPr lang="en-US" sz="1300" dirty="0"/>
          </a:p>
        </p:txBody>
      </p:sp>
      <p:sp>
        <p:nvSpPr>
          <p:cNvPr id="141" name="Text 139"/>
          <p:cNvSpPr/>
          <p:nvPr/>
        </p:nvSpPr>
        <p:spPr>
          <a:xfrm>
            <a:off x="914400" y="4480560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BBCC"/>
                </a:solidFill>
              </a:rPr>
              <a:t>Angular · React · Vue · Plain HTML  —  No npm install. No framework dependency. No rebuild.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338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A73E8"/>
                </a:solidFill>
              </a:rPr>
              <a:t>BUSINESS VALUE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11480" y="621792"/>
            <a:ext cx="11338560" cy="0"/>
          </a:xfrm>
          <a:prstGeom prst="line">
            <a:avLst/>
          </a:prstGeom>
          <a:noFill/>
          <a:ln w="19050">
            <a:solidFill>
              <a:srgbClr val="1A73E8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8368"/>
            <a:ext cx="11338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Impact Across Every Team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508760"/>
            <a:ext cx="365760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76072" y="16459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76072" y="1984248"/>
            <a:ext cx="33284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47A1"/>
                </a:solidFill>
              </a:rPr>
              <a:t>Faster Onboarding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76072" y="2286000"/>
            <a:ext cx="3328416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8A"/>
                </a:solidFill>
              </a:rPr>
              <a:t>New members reach self-sufficiency without burdening senior engineers with the same questions repeatedly.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343400" y="1508760"/>
            <a:ext cx="365760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07992" y="16459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07992" y="1984248"/>
            <a:ext cx="33284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47A1"/>
                </a:solidFill>
              </a:rPr>
              <a:t>Data Democratization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07992" y="2286000"/>
            <a:ext cx="3328416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8A"/>
                </a:solidFill>
              </a:rPr>
              <a:t>Business stakeholders query operational data conversationally — no SQL, no waiting for an engineering ticket.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275320" y="1508760"/>
            <a:ext cx="365760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439912" y="16459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🚨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439912" y="1984248"/>
            <a:ext cx="33284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47A1"/>
                </a:solidFill>
              </a:rPr>
              <a:t>Incident Response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439912" y="2286000"/>
            <a:ext cx="3328416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8A"/>
                </a:solidFill>
              </a:rPr>
              <a:t>During outages, operational context is conversational — SLA status, active events, health scores in seconds.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11480" y="3840480"/>
            <a:ext cx="365760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76072" y="39776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🔒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76072" y="4315968"/>
            <a:ext cx="33284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47A1"/>
                </a:solidFill>
              </a:rPr>
              <a:t>Data Never Leaves GCP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76072" y="4617720"/>
            <a:ext cx="3328416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8A"/>
                </a:solidFill>
              </a:rPr>
              <a:t>All processing within your GCP project. Nothing sent to third-party services. Compliant by design.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343400" y="3840480"/>
            <a:ext cx="365760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07992" y="39776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🔌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507992" y="4315968"/>
            <a:ext cx="33284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47A1"/>
                </a:solidFill>
              </a:rPr>
              <a:t>Any Existing App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07992" y="4617720"/>
            <a:ext cx="3328416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8A"/>
                </a:solidFill>
              </a:rPr>
              <a:t>One script tag. Zero rebuild. Each team owns their integration. Live within a day.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275320" y="3840480"/>
            <a:ext cx="365760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439912" y="39776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🔄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439912" y="4315968"/>
            <a:ext cx="33284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47A1"/>
                </a:solidFill>
              </a:rPr>
              <a:t>Always Current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439912" y="4617720"/>
            <a:ext cx="3328416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8A"/>
                </a:solidFill>
              </a:rPr>
              <a:t>Operational data queried live. Jargon synced nightly. No stale dashboards.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338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2A5F5"/>
                </a:solidFill>
              </a:rPr>
              <a:t>SYSTEM ARCHITECTURE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11480" y="621792"/>
            <a:ext cx="11338560" cy="0"/>
          </a:xfrm>
          <a:prstGeom prst="line">
            <a:avLst/>
          </a:prstGeom>
          <a:noFill/>
          <a:ln w="19050">
            <a:solidFill>
              <a:srgbClr val="42A5F5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8368"/>
            <a:ext cx="11338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Layers — Fully on Google Cloud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481328"/>
            <a:ext cx="11338560" cy="658368"/>
          </a:xfrm>
          <a:prstGeom prst="roundRect">
            <a:avLst>
              <a:gd name="adj" fmla="val 11111"/>
            </a:avLst>
          </a:prstGeom>
          <a:solidFill>
            <a:srgbClr val="1A73E8">
              <a:alpha val="12000"/>
            </a:srgbClr>
          </a:solidFill>
          <a:ln w="12700">
            <a:solidFill>
              <a:srgbClr val="1A73E8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527048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73E8"/>
                </a:solidFill>
              </a:rPr>
              <a:t>🌐 Web Widget — Vanilla JS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783080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BCC"/>
                </a:solidFill>
              </a:rPr>
              <a:t>Single &lt;script&gt; tag · Zero dependencies · Embeds in any app · Configurable · Mobile responsive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11480" y="2212848"/>
            <a:ext cx="11338560" cy="658368"/>
          </a:xfrm>
          <a:prstGeom prst="roundRect">
            <a:avLst>
              <a:gd name="adj" fmla="val 11111"/>
            </a:avLst>
          </a:prstGeom>
          <a:solidFill>
            <a:srgbClr val="00897B">
              <a:alpha val="12000"/>
            </a:srgbClr>
          </a:solidFill>
          <a:ln w="12700">
            <a:solidFill>
              <a:srgbClr val="00897B">
                <a:alpha val="4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258568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97B"/>
                </a:solidFill>
              </a:rPr>
              <a:t>☕ Chatbot API — Spring Boot · Cloud Run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2514600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BCC"/>
                </a:solidFill>
              </a:rPr>
              <a:t>Orchestrates: MCP context fetch → RAG prompt → Vertex AI generation · ADC service account auth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11480" y="2944368"/>
            <a:ext cx="11338560" cy="658368"/>
          </a:xfrm>
          <a:prstGeom prst="roundRect">
            <a:avLst>
              <a:gd name="adj" fmla="val 11111"/>
            </a:avLst>
          </a:prstGeom>
          <a:solidFill>
            <a:srgbClr val="FFC107">
              <a:alpha val="12000"/>
            </a:srgbClr>
          </a:solidFill>
          <a:ln w="12700">
            <a:solidFill>
              <a:srgbClr val="FFC107">
                <a:alpha val="4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990088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C107"/>
                </a:solidFill>
              </a:rPr>
              <a:t>🔧 MCP Server — Node.js · Cloud Run  ←→  🧠 Vertex AI (Gemini + RAG Corpus)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3246120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BCC"/>
                </a:solidFill>
              </a:rPr>
              <a:t>10 tools: query_postgres · lookup_jargon · get_entity_summary · get_kpi_report · get_sla_status…  |  text-embedding-004 · Nightly sync · Temp 0.2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1480" y="3675888"/>
            <a:ext cx="11338560" cy="658368"/>
          </a:xfrm>
          <a:prstGeom prst="roundRect">
            <a:avLst>
              <a:gd name="adj" fmla="val 11111"/>
            </a:avLst>
          </a:prstGeom>
          <a:solidFill>
            <a:srgbClr val="E65100">
              <a:alpha val="12000"/>
            </a:srgbClr>
          </a:solidFill>
          <a:ln w="12700">
            <a:solidFill>
              <a:srgbClr val="E65100">
                <a:alpha val="4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721608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5100"/>
                </a:solidFill>
              </a:rPr>
              <a:t>🗄️ Cloud SQL (PostgreSQL)  ←→  ☕ Business Data API — Spring Boot · Cloud Run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3977640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BCC"/>
                </a:solidFill>
              </a:rPr>
              <a:t>jargon_dictionary · entities · entity_metrics · events · Read-only user  |  Health scores · SLA breach risk · KPI aggregation · Business logic in Java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577840" y="21031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466"/>
                </a:solidFill>
              </a:rPr>
              <a:t>▼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77840" y="28346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466"/>
                </a:solidFill>
              </a:rPr>
              <a:t>▼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577840" y="35661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466"/>
                </a:solidFill>
              </a:rPr>
              <a:t>▼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338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2A5F5"/>
                </a:solidFill>
              </a:rPr>
              <a:t>CORE TECHNOLOGY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11480" y="621792"/>
            <a:ext cx="11338560" cy="0"/>
          </a:xfrm>
          <a:prstGeom prst="line">
            <a:avLst/>
          </a:prstGeom>
          <a:noFill/>
          <a:ln w="19050">
            <a:solidFill>
              <a:srgbClr val="42A5F5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8368"/>
            <a:ext cx="11338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Concepts That Power Everything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508760"/>
            <a:ext cx="3657600" cy="4663440"/>
          </a:xfrm>
          <a:prstGeom prst="roundRect">
            <a:avLst>
              <a:gd name="adj" fmla="val 3500"/>
            </a:avLst>
          </a:prstGeom>
          <a:solidFill>
            <a:srgbClr val="1C2E44"/>
          </a:solidFill>
          <a:ln w="12700">
            <a:solidFill>
              <a:srgbClr val="42A5F5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508760"/>
            <a:ext cx="3657600" cy="54864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6916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2A5F5"/>
                </a:solidFill>
              </a:rPr>
              <a:t>Vertex AI (Gemini)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2148840"/>
            <a:ext cx="3291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DDEF"/>
                </a:solidFill>
              </a:rPr>
              <a:t>Google's managed AI platform. You rent the brain — Gemini reads and generates human language.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DEF"/>
                </a:solidFill>
              </a:rPr>
              <a:t>You call it via API. Pay per request. No infrastructure to manage.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DEF"/>
                </a:solidFill>
              </a:rPr>
              <a:t>Temperature 0.2 = factual answers, not creative ones.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94360" y="5577840"/>
            <a:ext cx="3291840" cy="256032"/>
          </a:xfrm>
          <a:prstGeom prst="roundRect">
            <a:avLst>
              <a:gd name="adj" fmla="val 28571"/>
            </a:avLst>
          </a:prstGeom>
          <a:solidFill>
            <a:srgbClr val="42A5F5">
              <a:alpha val="20000"/>
            </a:srgbClr>
          </a:solidFill>
          <a:ln w="12700">
            <a:solidFill>
              <a:srgbClr val="42A5F5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557784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2A5F5"/>
                </a:solidFill>
              </a:rPr>
              <a:t>Managed · Pay-per-use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251960" y="1508760"/>
            <a:ext cx="3657600" cy="4663440"/>
          </a:xfrm>
          <a:prstGeom prst="roundRect">
            <a:avLst>
              <a:gd name="adj" fmla="val 3500"/>
            </a:avLst>
          </a:prstGeom>
          <a:solidFill>
            <a:srgbClr val="1C2E44"/>
          </a:solidFill>
          <a:ln w="12700">
            <a:solidFill>
              <a:srgbClr val="FFC107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51960" y="1508760"/>
            <a:ext cx="3657600" cy="54864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34840" y="16916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107"/>
                </a:solidFill>
              </a:rPr>
              <a:t>RAG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434840" y="2148840"/>
            <a:ext cx="3291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DDEF"/>
                </a:solidFill>
              </a:rPr>
              <a:t>Retrieval Augmented Generation.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DEF"/>
                </a:solidFill>
              </a:rPr>
              <a:t>First RETRIEVE context from YOUR data (jargon, DB records), then feed it to the AI.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DEF"/>
                </a:solidFill>
              </a:rPr>
              <a:t>Without RAG: generic internet answers.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DEF"/>
                </a:solidFill>
              </a:rPr>
              <a:t>With RAG: answers about YOUR organization.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434840" y="5577840"/>
            <a:ext cx="3291840" cy="256032"/>
          </a:xfrm>
          <a:prstGeom prst="roundRect">
            <a:avLst>
              <a:gd name="adj" fmla="val 28571"/>
            </a:avLst>
          </a:prstGeom>
          <a:solidFill>
            <a:srgbClr val="FFC107">
              <a:alpha val="20000"/>
            </a:srgbClr>
          </a:solidFill>
          <a:ln w="12700">
            <a:solidFill>
              <a:srgbClr val="FFC107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34840" y="557784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C107"/>
                </a:solidFill>
              </a:rPr>
              <a:t>Anti-hallucination · Grounded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8092440" y="1508760"/>
            <a:ext cx="3657600" cy="4663440"/>
          </a:xfrm>
          <a:prstGeom prst="roundRect">
            <a:avLst>
              <a:gd name="adj" fmla="val 3500"/>
            </a:avLst>
          </a:prstGeom>
          <a:solidFill>
            <a:srgbClr val="1C2E44"/>
          </a:solidFill>
          <a:ln w="12700">
            <a:solidFill>
              <a:srgbClr val="4DB6AC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92440" y="1508760"/>
            <a:ext cx="3657600" cy="54864"/>
          </a:xfrm>
          <a:prstGeom prst="rect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75320" y="16916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DB6AC"/>
                </a:solidFill>
              </a:rPr>
              <a:t>MCP Server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275320" y="2148840"/>
            <a:ext cx="3291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DDEF"/>
                </a:solidFill>
              </a:rPr>
              <a:t>Model Context Protocol — open standard by Anthropic.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DEF"/>
                </a:solidFill>
              </a:rPr>
              <a:t>Universal adapter between AI and your data sources. The AI calls your tools like functions.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DEF"/>
                </a:solidFill>
              </a:rPr>
              <a:t>Model-agnostic: Gemini, Claude, GPT-4 all work.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275320" y="5577840"/>
            <a:ext cx="3291840" cy="256032"/>
          </a:xfrm>
          <a:prstGeom prst="roundRect">
            <a:avLst>
              <a:gd name="adj" fmla="val 28571"/>
            </a:avLst>
          </a:prstGeom>
          <a:solidFill>
            <a:srgbClr val="4DB6AC">
              <a:alpha val="20000"/>
            </a:srgbClr>
          </a:solidFill>
          <a:ln w="12700">
            <a:solidFill>
              <a:srgbClr val="4DB6AC">
                <a:alpha val="4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75320" y="557784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DB6AC"/>
                </a:solidFill>
              </a:rPr>
              <a:t>Open standard · Model-agnostic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338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2A5F5"/>
                </a:solidFill>
              </a:rPr>
              <a:t>REQUEST FLOW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11480" y="621792"/>
            <a:ext cx="11338560" cy="0"/>
          </a:xfrm>
          <a:prstGeom prst="line">
            <a:avLst/>
          </a:prstGeom>
          <a:noFill/>
          <a:ln w="19050">
            <a:solidFill>
              <a:srgbClr val="42A5F5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8368"/>
            <a:ext cx="11338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When You Ask a Question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581912"/>
            <a:ext cx="475488" cy="475488"/>
          </a:xfrm>
          <a:prstGeom prst="ellipse">
            <a:avLst/>
          </a:prstGeom>
          <a:solidFill>
            <a:srgbClr val="1A73E8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58191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1545336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User types: "Which entities have SLA issues?"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1856232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BBCC"/>
                </a:solidFill>
              </a:rPr>
              <a:t>Widget sends POST /api/chat → Chatbot API (Spring Boot on Cloud Run)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49224" y="2057400"/>
            <a:ext cx="0" cy="256032"/>
          </a:xfrm>
          <a:prstGeom prst="line">
            <a:avLst/>
          </a:prstGeom>
          <a:noFill/>
          <a:ln w="12700">
            <a:solidFill>
              <a:srgbClr val="2A406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2423160"/>
            <a:ext cx="475488" cy="475488"/>
          </a:xfrm>
          <a:prstGeom prst="ellipse">
            <a:avLst/>
          </a:prstGeom>
          <a:solidFill>
            <a:srgbClr val="1A73E8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42316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2386584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Chatbot API calls MCP tools for context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269748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BBCC"/>
                </a:solidFill>
              </a:rPr>
              <a:t>Calls: get_jargon_dictionary() + get_sla_status() via MCP Server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49224" y="2898648"/>
            <a:ext cx="0" cy="256032"/>
          </a:xfrm>
          <a:prstGeom prst="line">
            <a:avLst/>
          </a:prstGeom>
          <a:noFill/>
          <a:ln w="12700">
            <a:solidFill>
              <a:srgbClr val="2A40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3264408"/>
            <a:ext cx="475488" cy="475488"/>
          </a:xfrm>
          <a:prstGeom prst="ellipse">
            <a:avLst/>
          </a:prstGeom>
          <a:solidFill>
            <a:srgbClr val="1A73E8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26440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" y="3227832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MCP routes get_sla_status() → Business Data API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3538728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BBCC"/>
                </a:solidFill>
              </a:rPr>
              <a:t>Spring Boot computes: compliance %, breach risk score, recommendations — live data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49224" y="3739896"/>
            <a:ext cx="0" cy="256032"/>
          </a:xfrm>
          <a:prstGeom prst="line">
            <a:avLst/>
          </a:prstGeom>
          <a:noFill/>
          <a:ln w="12700">
            <a:solidFill>
              <a:srgbClr val="2A406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4105656"/>
            <a:ext cx="475488" cy="475488"/>
          </a:xfrm>
          <a:prstGeom prst="ellipse">
            <a:avLst/>
          </a:prstGeom>
          <a:solidFill>
            <a:srgbClr val="1A73E8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410565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05840" y="406908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Chatbot API builds RAG-augmented prompt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05840" y="4379976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BBCC"/>
                </a:solidFill>
              </a:rPr>
              <a:t>[Jargon Dictionary] + [SLA Status Data] + [User Question] = grounded prompt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49224" y="4581144"/>
            <a:ext cx="0" cy="256032"/>
          </a:xfrm>
          <a:prstGeom prst="line">
            <a:avLst/>
          </a:prstGeom>
          <a:noFill/>
          <a:ln w="12700">
            <a:solidFill>
              <a:srgbClr val="2A406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1480" y="4946904"/>
            <a:ext cx="475488" cy="475488"/>
          </a:xfrm>
          <a:prstGeom prst="ellipse">
            <a:avLst/>
          </a:prstGeom>
          <a:solidFill>
            <a:srgbClr val="1A73E8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494690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05840" y="4910328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Vertex AI (Gemini 1.5 Flash) generates answer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05840" y="5221224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BBCC"/>
                </a:solidFill>
              </a:rPr>
              <a:t>Temp 0.2 · "Only answer from context" instruction · Max 1024 tokens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49224" y="5422392"/>
            <a:ext cx="0" cy="256032"/>
          </a:xfrm>
          <a:prstGeom prst="line">
            <a:avLst/>
          </a:prstGeom>
          <a:noFill/>
          <a:ln w="12700">
            <a:solidFill>
              <a:srgbClr val="2A406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11480" y="5788152"/>
            <a:ext cx="475488" cy="475488"/>
          </a:xfrm>
          <a:prstGeom prst="ellipse">
            <a:avLst/>
          </a:prstGeom>
          <a:solidFill>
            <a:srgbClr val="1A73E8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578815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05840" y="5751576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Grounded answer returned to widget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05840" y="6062472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BBCC"/>
                </a:solidFill>
              </a:rPr>
              <a:t>"Beta Platform (ENT-002) is BREACHED at 98.5% vs 99.9% SLA threshold. Escalate immediately."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338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2A5F5"/>
                </a:solidFill>
              </a:rPr>
              <a:t>SECURITY DESIGN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11480" y="621792"/>
            <a:ext cx="11338560" cy="0"/>
          </a:xfrm>
          <a:prstGeom prst="line">
            <a:avLst/>
          </a:prstGeom>
          <a:noFill/>
          <a:ln w="19050">
            <a:solidFill>
              <a:srgbClr val="42A5F5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8368"/>
            <a:ext cx="11338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in Depth — Every Layer Protected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508760"/>
            <a:ext cx="5486400" cy="2103120"/>
          </a:xfrm>
          <a:prstGeom prst="roundRect">
            <a:avLst>
              <a:gd name="adj" fmla="val 5217"/>
            </a:avLst>
          </a:prstGeom>
          <a:solidFill>
            <a:srgbClr val="1C2E44"/>
          </a:solidFill>
          <a:ln w="12700">
            <a:solidFill>
              <a:srgbClr val="2A406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76072" y="16459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👤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76072" y="1984248"/>
            <a:ext cx="51572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2A5F5"/>
                </a:solidFill>
              </a:rPr>
              <a:t>Least-Privilege Service Accounts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76072" y="2286000"/>
            <a:ext cx="5157216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BBCC"/>
                </a:solidFill>
              </a:rPr>
              <a:t>4 separate service accounts — each with only the permissions it needs. MCP Server: read-only DB. Chat API: only Vertex AI + Secret Manager.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76072" y="3319272"/>
            <a:ext cx="1179576" cy="201168"/>
          </a:xfrm>
          <a:prstGeom prst="roundRect">
            <a:avLst>
              <a:gd name="adj" fmla="val 27273"/>
            </a:avLst>
          </a:prstGeom>
          <a:solidFill>
            <a:srgbClr val="1A4070"/>
          </a:solidFill>
          <a:ln w="12700">
            <a:solidFill>
              <a:srgbClr val="1A73E8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6072" y="3319272"/>
            <a:ext cx="11795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2A5F5"/>
                </a:solidFill>
              </a:rPr>
              <a:t>Cloud IAM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6309360" y="1508760"/>
            <a:ext cx="5486400" cy="2103120"/>
          </a:xfrm>
          <a:prstGeom prst="roundRect">
            <a:avLst>
              <a:gd name="adj" fmla="val 5217"/>
            </a:avLst>
          </a:prstGeom>
          <a:solidFill>
            <a:srgbClr val="1C2E44"/>
          </a:solidFill>
          <a:ln w="12700">
            <a:solidFill>
              <a:srgbClr val="2A406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73952" y="16459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🔒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73952" y="1984248"/>
            <a:ext cx="51572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2A5F5"/>
                </a:solidFill>
              </a:rPr>
              <a:t>Read-Only Database User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73952" y="2286000"/>
            <a:ext cx="5157216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BBCC"/>
                </a:solidFill>
              </a:rPr>
              <a:t>PostgreSQL user app_readonly cannot INSERT, UPDATE, or DELETE. Even if MCP Server is compromised, data cannot be mutated.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473952" y="3319272"/>
            <a:ext cx="2084832" cy="201168"/>
          </a:xfrm>
          <a:prstGeom prst="roundRect">
            <a:avLst>
              <a:gd name="adj" fmla="val 27273"/>
            </a:avLst>
          </a:prstGeom>
          <a:solidFill>
            <a:srgbClr val="1A4070"/>
          </a:solidFill>
          <a:ln w="12700">
            <a:solidFill>
              <a:srgbClr val="1A73E8">
                <a:alpha val="5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73952" y="3319272"/>
            <a:ext cx="20848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2A5F5"/>
                </a:solidFill>
              </a:rPr>
              <a:t>Zero mutation risk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11480" y="3840480"/>
            <a:ext cx="5486400" cy="2103120"/>
          </a:xfrm>
          <a:prstGeom prst="roundRect">
            <a:avLst>
              <a:gd name="adj" fmla="val 5217"/>
            </a:avLst>
          </a:prstGeom>
          <a:solidFill>
            <a:srgbClr val="1C2E44"/>
          </a:solidFill>
          <a:ln w="12700">
            <a:solidFill>
              <a:srgbClr val="2A406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76072" y="39776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🏠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76072" y="4315968"/>
            <a:ext cx="51572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2A5F5"/>
                </a:solidFill>
              </a:rPr>
              <a:t>Internal-Only Cloud Run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76072" y="4617720"/>
            <a:ext cx="5157216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BBCC"/>
                </a:solidFill>
              </a:rPr>
              <a:t>MCP Server and Business Data API: --ingress internal. No public access. Only services within the same VPC can reach them.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76072" y="5650992"/>
            <a:ext cx="2889504" cy="201168"/>
          </a:xfrm>
          <a:prstGeom prst="roundRect">
            <a:avLst>
              <a:gd name="adj" fmla="val 27273"/>
            </a:avLst>
          </a:prstGeom>
          <a:solidFill>
            <a:srgbClr val="1A4070"/>
          </a:solidFill>
          <a:ln w="12700">
            <a:solidFill>
              <a:srgbClr val="1A73E8">
                <a:alpha val="5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6072" y="5650992"/>
            <a:ext cx="2889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2A5F5"/>
                </a:solidFill>
              </a:rPr>
              <a:t>--no-allow-unauthenticated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6309360" y="3840480"/>
            <a:ext cx="5486400" cy="2103120"/>
          </a:xfrm>
          <a:prstGeom prst="roundRect">
            <a:avLst>
              <a:gd name="adj" fmla="val 5217"/>
            </a:avLst>
          </a:prstGeom>
          <a:solidFill>
            <a:srgbClr val="1C2E44"/>
          </a:solidFill>
          <a:ln w="12700">
            <a:solidFill>
              <a:srgbClr val="2A406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473952" y="39776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🗝️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473952" y="4315968"/>
            <a:ext cx="51572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2A5F5"/>
                </a:solidFill>
              </a:rPr>
              <a:t>Secret Manager — All Credentials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73952" y="4617720"/>
            <a:ext cx="5157216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BBCC"/>
                </a:solidFill>
              </a:rPr>
              <a:t>DB passwords and API keys in GCP Secret Manager. Never in env vars, never in code, never in Docker images.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473952" y="5650992"/>
            <a:ext cx="2286000" cy="201168"/>
          </a:xfrm>
          <a:prstGeom prst="roundRect">
            <a:avLst>
              <a:gd name="adj" fmla="val 27273"/>
            </a:avLst>
          </a:prstGeom>
          <a:solidFill>
            <a:srgbClr val="1A4070"/>
          </a:solidFill>
          <a:ln w="12700">
            <a:solidFill>
              <a:srgbClr val="1A73E8">
                <a:alpha val="5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73952" y="565099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2A5F5"/>
                </a:solidFill>
              </a:rPr>
              <a:t>No hardcoded secrets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338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2A5F5"/>
                </a:solidFill>
              </a:rPr>
              <a:t>ROADMAP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11480" y="621792"/>
            <a:ext cx="11338560" cy="0"/>
          </a:xfrm>
          <a:prstGeom prst="line">
            <a:avLst/>
          </a:prstGeom>
          <a:noFill/>
          <a:ln w="19050">
            <a:solidFill>
              <a:srgbClr val="42A5F5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8368"/>
            <a:ext cx="11338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Built. What's Next.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508760"/>
            <a:ext cx="3657600" cy="4663440"/>
          </a:xfrm>
          <a:prstGeom prst="roundRect">
            <a:avLst>
              <a:gd name="adj" fmla="val 3500"/>
            </a:avLst>
          </a:prstGeom>
          <a:solidFill>
            <a:srgbClr val="1C2E44"/>
          </a:solidFill>
          <a:ln w="12700">
            <a:solidFill>
              <a:srgbClr val="42A5F5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508760"/>
            <a:ext cx="3657600" cy="54864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66420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2A5F5"/>
                </a:solidFill>
              </a:rPr>
              <a:t>✅ Phase 1 — Shipped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2148840"/>
            <a:ext cx="329184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CCDDEF"/>
                </a:solidFill>
              </a:rPr>
              <a:t>MCP Server (10 tools)</a:t>
            </a:r>
            <a:endParaRPr lang="en-US" sz="1100" dirty="0"/>
          </a:p>
          <a:p>
            <a:r>
              <a:rPr lang="en-US" sz="1100" dirty="0">
                <a:solidFill>
                  <a:srgbClr val="CCDDEF"/>
                </a:solidFill>
              </a:rPr>
              <a:t>Business Data API + logic</a:t>
            </a:r>
            <a:endParaRPr lang="en-US" sz="1100" dirty="0"/>
          </a:p>
          <a:p>
            <a:r>
              <a:rPr lang="en-US" sz="1100" dirty="0">
                <a:solidFill>
                  <a:srgbClr val="CCDDEF"/>
                </a:solidFill>
              </a:rPr>
              <a:t>Vertex AI + Gemini</a:t>
            </a:r>
            <a:endParaRPr lang="en-US" sz="1100" dirty="0"/>
          </a:p>
          <a:p>
            <a:r>
              <a:rPr lang="en-US" sz="1100" dirty="0">
                <a:solidFill>
                  <a:srgbClr val="CCDDEF"/>
                </a:solidFill>
              </a:rPr>
              <a:t>RAG corpus + nightly sync</a:t>
            </a:r>
            <a:endParaRPr lang="en-US" sz="1100" dirty="0"/>
          </a:p>
          <a:p>
            <a:r>
              <a:rPr lang="en-US" sz="1100" dirty="0">
                <a:solidFill>
                  <a:srgbClr val="CCDDEF"/>
                </a:solidFill>
              </a:rPr>
              <a:t>Embeddable web widget</a:t>
            </a:r>
            <a:endParaRPr lang="en-US" sz="1100" dirty="0"/>
          </a:p>
          <a:p>
            <a:r>
              <a:rPr lang="en-US" sz="1100" dirty="0">
                <a:solidFill>
                  <a:srgbClr val="CCDDEF"/>
                </a:solidFill>
              </a:rPr>
              <a:t>GCP deployment automation</a:t>
            </a:r>
            <a:endParaRPr lang="en-US" sz="1100" dirty="0"/>
          </a:p>
          <a:p>
            <a:r>
              <a:rPr lang="en-US" sz="1100" dirty="0">
                <a:solidFill>
                  <a:srgbClr val="CCDDEF"/>
                </a:solidFill>
              </a:rPr>
              <a:t>Option A + B MCP paths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51960" y="1508760"/>
            <a:ext cx="3657600" cy="4663440"/>
          </a:xfrm>
          <a:prstGeom prst="roundRect">
            <a:avLst>
              <a:gd name="adj" fmla="val 3500"/>
            </a:avLst>
          </a:prstGeom>
          <a:solidFill>
            <a:srgbClr val="1C2E44"/>
          </a:solidFill>
          <a:ln w="12700">
            <a:solidFill>
              <a:srgbClr val="FFC107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51960" y="1508760"/>
            <a:ext cx="3657600" cy="54864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34840" y="166420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C107"/>
                </a:solidFill>
              </a:rPr>
              <a:t>🔄 Phase 2 — Enhancing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434840" y="2148840"/>
            <a:ext cx="329184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CCDDEF"/>
                </a:solidFill>
              </a:rPr>
              <a:t>Streaming responses (SSE)</a:t>
            </a:r>
            <a:endParaRPr lang="en-US" sz="1100" dirty="0"/>
          </a:p>
          <a:p>
            <a:r>
              <a:rPr lang="en-US" sz="1100" dirty="0">
                <a:solidFill>
                  <a:srgbClr val="CCDDEF"/>
                </a:solidFill>
              </a:rPr>
              <a:t>Conversation memory (Firestore)</a:t>
            </a:r>
            <a:endParaRPr lang="en-US" sz="1100" dirty="0"/>
          </a:p>
          <a:p>
            <a:r>
              <a:rPr lang="en-US" sz="1100" dirty="0">
                <a:solidFill>
                  <a:srgbClr val="CCDDEF"/>
                </a:solidFill>
              </a:rPr>
              <a:t>Feedback loop → BigQuery</a:t>
            </a:r>
            <a:endParaRPr lang="en-US" sz="1100" dirty="0"/>
          </a:p>
          <a:p>
            <a:r>
              <a:rPr lang="en-US" sz="1100" dirty="0">
                <a:solidFill>
                  <a:srgbClr val="CCDDEF"/>
                </a:solidFill>
              </a:rPr>
              <a:t>Multi-corpus RAG</a:t>
            </a:r>
            <a:endParaRPr lang="en-US" sz="1100" dirty="0"/>
          </a:p>
          <a:p>
            <a:r>
              <a:rPr lang="en-US" sz="1100" dirty="0">
                <a:solidFill>
                  <a:srgbClr val="CCDDEF"/>
                </a:solidFill>
              </a:rPr>
              <a:t>(Confluence, Jira, runbooks)</a:t>
            </a:r>
            <a:endParaRPr lang="en-US" sz="1100" dirty="0"/>
          </a:p>
          <a:p>
            <a:r>
              <a:rPr lang="en-US" sz="1100" dirty="0">
                <a:solidFill>
                  <a:srgbClr val="CCDDEF"/>
                </a:solidFill>
              </a:rPr>
              <a:t>Response quality analytics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92440" y="1508760"/>
            <a:ext cx="3657600" cy="4663440"/>
          </a:xfrm>
          <a:prstGeom prst="roundRect">
            <a:avLst>
              <a:gd name="adj" fmla="val 3500"/>
            </a:avLst>
          </a:prstGeom>
          <a:solidFill>
            <a:srgbClr val="1C2E44"/>
          </a:solidFill>
          <a:ln w="12700">
            <a:solidFill>
              <a:srgbClr val="81C784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92440" y="1508760"/>
            <a:ext cx="3657600" cy="54864"/>
          </a:xfrm>
          <a:prstGeom prst="rect">
            <a:avLst/>
          </a:prstGeom>
          <a:solidFill>
            <a:srgbClr val="81C784"/>
          </a:solidFill>
          <a:ln w="12700">
            <a:solidFill>
              <a:srgbClr val="81C78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75320" y="166420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1C784"/>
                </a:solidFill>
              </a:rPr>
              <a:t>🚀 Phase 3 — Enterprise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75320" y="2148840"/>
            <a:ext cx="329184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CCDDEF"/>
                </a:solidFill>
              </a:rPr>
              <a:t>OAuth2/OIDC widget auth</a:t>
            </a:r>
            <a:endParaRPr lang="en-US" sz="1100" dirty="0"/>
          </a:p>
          <a:p>
            <a:r>
              <a:rPr lang="en-US" sz="1100" dirty="0">
                <a:solidFill>
                  <a:srgbClr val="CCDDEF"/>
                </a:solidFill>
              </a:rPr>
              <a:t>GCP Identity-Aware Proxy</a:t>
            </a:r>
            <a:endParaRPr lang="en-US" sz="1100" dirty="0"/>
          </a:p>
          <a:p>
            <a:r>
              <a:rPr lang="en-US" sz="1100" dirty="0">
                <a:solidFill>
                  <a:srgbClr val="CCDDEF"/>
                </a:solidFill>
              </a:rPr>
              <a:t>Analytics dashboard</a:t>
            </a:r>
            <a:endParaRPr lang="en-US" sz="1100" dirty="0"/>
          </a:p>
          <a:p>
            <a:r>
              <a:rPr lang="en-US" sz="1100" dirty="0">
                <a:solidFill>
                  <a:srgbClr val="CCDDEF"/>
                </a:solidFill>
              </a:rPr>
              <a:t>Cloud Logging + Looker</a:t>
            </a:r>
            <a:endParaRPr lang="en-US" sz="1100" dirty="0"/>
          </a:p>
          <a:p>
            <a:r>
              <a:rPr lang="en-US" sz="1100" dirty="0">
                <a:solidFill>
                  <a:srgbClr val="CCDDEF"/>
                </a:solidFill>
              </a:rPr>
              <a:t>Write tools + approval gates</a:t>
            </a:r>
            <a:endParaRPr lang="en-US" sz="1100" dirty="0"/>
          </a:p>
          <a:p>
            <a:r>
              <a:rPr lang="en-US" sz="1100" dirty="0">
                <a:solidFill>
                  <a:srgbClr val="CCDDEF"/>
                </a:solidFill>
              </a:rPr>
              <a:t>Create Jira tickets from chat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338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A73E8"/>
                </a:solidFill>
              </a:rPr>
              <a:t>NEXT STEPS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11480" y="621792"/>
            <a:ext cx="11338560" cy="0"/>
          </a:xfrm>
          <a:prstGeom prst="line">
            <a:avLst/>
          </a:prstGeom>
          <a:noFill/>
          <a:ln w="19050">
            <a:solidFill>
              <a:srgbClr val="1A73E8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8368"/>
            <a:ext cx="11338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Things We Can Do This Week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508760"/>
            <a:ext cx="3657600" cy="301752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2700">
            <a:solidFill>
              <a:srgbClr val="1A73E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508760"/>
            <a:ext cx="3657600" cy="64008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69164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1️⃣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94360" y="210312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3E8"/>
                </a:solidFill>
              </a:rPr>
              <a:t>Embed in One App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251460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8A"/>
                </a:solidFill>
              </a:rPr>
              <a:t>Pick one existing internal application. Add the single script tag. Live within the same day — no rebuild, no deployment changes.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4360" y="4251960"/>
            <a:ext cx="3291840" cy="219456"/>
          </a:xfrm>
          <a:prstGeom prst="roundRect">
            <a:avLst>
              <a:gd name="adj" fmla="val 25000"/>
            </a:avLst>
          </a:prstGeom>
          <a:solidFill>
            <a:srgbClr val="E3F2FD"/>
          </a:solidFill>
          <a:ln w="12700">
            <a:solidFill>
              <a:srgbClr val="1A73E8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42519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73E8"/>
                </a:solidFill>
              </a:rPr>
              <a:t>Same day · Zero risk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343400" y="1508760"/>
            <a:ext cx="3657600" cy="301752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270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43400" y="1508760"/>
            <a:ext cx="3657600" cy="6400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26280" y="169164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2️⃣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26280" y="210312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97B"/>
                </a:solidFill>
              </a:rPr>
              <a:t>Expand the Dictionary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26280" y="251460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8A"/>
                </a:solidFill>
              </a:rPr>
              <a:t>Each team submits domain acronyms. Add to jargon_dictionary table. AI picks them up overnight. No engineering work per addition.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26280" y="4251960"/>
            <a:ext cx="3291840" cy="219456"/>
          </a:xfrm>
          <a:prstGeom prst="roundRect">
            <a:avLst>
              <a:gd name="adj" fmla="val 25000"/>
            </a:avLst>
          </a:prstGeom>
          <a:solidFill>
            <a:srgbClr val="E3F2FD"/>
          </a:solidFill>
          <a:ln w="12700">
            <a:solidFill>
              <a:srgbClr val="00897B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26280" y="42519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897B"/>
                </a:solidFill>
              </a:rPr>
              <a:t>Self-service · All teams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8275320" y="1508760"/>
            <a:ext cx="3657600" cy="301752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2700">
            <a:solidFill>
              <a:srgbClr val="6A1B9A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75320" y="1508760"/>
            <a:ext cx="3657600" cy="64008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58200" y="169164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3️⃣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458200" y="210312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A1B9A"/>
                </a:solidFill>
              </a:rPr>
              <a:t>Add a Business Data Source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458200" y="251460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8A"/>
                </a:solidFill>
              </a:rPr>
              <a:t>Name the operational question your team asks most. Build it as a new MCP tool connected to real data — within one sprint.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458200" y="4251960"/>
            <a:ext cx="3291840" cy="219456"/>
          </a:xfrm>
          <a:prstGeom prst="roundRect">
            <a:avLst>
              <a:gd name="adj" fmla="val 25000"/>
            </a:avLst>
          </a:prstGeom>
          <a:solidFill>
            <a:srgbClr val="E3F2FD"/>
          </a:solidFill>
          <a:ln w="12700">
            <a:solidFill>
              <a:srgbClr val="6A1B9A">
                <a:alpha val="5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58200" y="42519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A1B9A"/>
                </a:solidFill>
              </a:rPr>
              <a:t>One sprint · High impact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11480" y="4663440"/>
            <a:ext cx="11338560" cy="822960"/>
          </a:xfrm>
          <a:prstGeom prst="roundRect">
            <a:avLst>
              <a:gd name="adj" fmla="val 13333"/>
            </a:avLst>
          </a:prstGeom>
          <a:solidFill>
            <a:srgbClr val="E3F2FD"/>
          </a:solidFill>
          <a:ln w="12700">
            <a:solidFill>
              <a:srgbClr val="1A73E8">
                <a:alpha val="5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47731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🔗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143000" y="4800600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47A1"/>
                </a:solidFill>
              </a:rPr>
              <a:t>github.com/mehtaniravm/MCP-Vertex-RAG-Java-Springboot-Chatbot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143000" y="5120640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8A"/>
                </a:solidFill>
              </a:rPr>
              <a:t>All code, documentation, setup guides, and demo examples — public repository.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6459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4688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918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1148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9377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7607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65836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8229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16459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24688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32918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41148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49377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" y="57607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65836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45920" y="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645920" y="8229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645920" y="16459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45920" y="24688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45920" y="32918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0" y="41148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45920" y="49377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645920" y="57607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645920" y="65836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468880" y="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468880" y="8229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468880" y="16459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468880" y="24688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468880" y="32918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468880" y="41148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468880" y="49377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468880" y="57607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468880" y="65836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91840" y="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291840" y="8229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91840" y="16459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91840" y="24688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291840" y="32918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291840" y="41148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91840" y="49377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291840" y="57607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291840" y="65836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114800" y="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114800" y="8229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114800" y="16459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114800" y="24688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114800" y="32918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114800" y="41148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114800" y="49377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114800" y="57607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114800" y="65836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937760" y="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937760" y="8229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937760" y="16459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937760" y="24688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937760" y="32918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937760" y="41148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937760" y="49377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937760" y="57607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937760" y="65836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760720" y="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760720" y="8229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760720" y="16459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760720" y="24688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760720" y="32918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760720" y="41148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5760720" y="49377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5760720" y="57607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5760720" y="65836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583680" y="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583680" y="8229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583680" y="16459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583680" y="24688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583680" y="32918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583680" y="41148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583680" y="49377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583680" y="57607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583680" y="65836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406640" y="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7406640" y="8229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7406640" y="16459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7406640" y="24688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7406640" y="32918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7406640" y="41148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7406640" y="49377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7406640" y="57607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7406640" y="65836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8229600" y="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8229600" y="8229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8229600" y="16459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8229600" y="24688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8229600" y="32918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8229600" y="41148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8229600" y="49377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8229600" y="57607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8229600" y="65836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9052560" y="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9052560" y="8229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9052560" y="16459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9052560" y="24688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9052560" y="32918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9052560" y="41148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9052560" y="49377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9052560" y="57607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9052560" y="65836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9875520" y="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9875520" y="8229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9875520" y="16459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9875520" y="24688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9875520" y="32918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9875520" y="41148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9875520" y="49377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9875520" y="57607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9875520" y="65836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10698480" y="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10698480" y="8229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10698480" y="16459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10698480" y="24688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10698480" y="32918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10698480" y="41148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10698480" y="49377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10698480" y="57607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10698480" y="65836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11521440" y="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11521440" y="8229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11521440" y="16459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11521440" y="24688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11521440" y="32918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11521440" y="41148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11521440" y="49377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11521440" y="57607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11521440" y="65836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2880360" y="731520"/>
            <a:ext cx="6400800" cy="5486400"/>
          </a:xfrm>
          <a:prstGeom prst="ellipse">
            <a:avLst/>
          </a:prstGeom>
          <a:solidFill>
            <a:srgbClr val="1A73E8">
              <a:alpha val="12000"/>
            </a:srgbClr>
          </a:solidFill>
          <a:ln w="12700">
            <a:solidFill>
              <a:srgbClr val="0A1628">
                <a:alpha val="0"/>
              </a:srgbClr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914400" y="731520"/>
            <a:ext cx="10332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42A5F5"/>
                </a:solidFill>
              </a:rPr>
              <a:t>THANK YOU</a:t>
            </a:r>
            <a:endParaRPr lang="en-US" sz="1100" dirty="0"/>
          </a:p>
        </p:txBody>
      </p:sp>
      <p:sp>
        <p:nvSpPr>
          <p:cNvPr id="139" name="Text 137"/>
          <p:cNvSpPr/>
          <p:nvPr/>
        </p:nvSpPr>
        <p:spPr>
          <a:xfrm>
            <a:off x="731520" y="1234440"/>
            <a:ext cx="10698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The Knowledge of Our Organization,</a:t>
            </a:r>
            <a:endParaRPr lang="en-US" sz="3000" dirty="0"/>
          </a:p>
        </p:txBody>
      </p:sp>
      <p:sp>
        <p:nvSpPr>
          <p:cNvPr id="140" name="Text 138"/>
          <p:cNvSpPr/>
          <p:nvPr/>
        </p:nvSpPr>
        <p:spPr>
          <a:xfrm>
            <a:off x="731520" y="1874520"/>
            <a:ext cx="10698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2A5F5"/>
                </a:solidFill>
              </a:rPr>
              <a:t>Accessible to Everyone.</a:t>
            </a:r>
            <a:endParaRPr lang="en-US" sz="3000" dirty="0"/>
          </a:p>
        </p:txBody>
      </p:sp>
      <p:sp>
        <p:nvSpPr>
          <p:cNvPr id="141" name="Text 139"/>
          <p:cNvSpPr/>
          <p:nvPr/>
        </p:nvSpPr>
        <p:spPr>
          <a:xfrm>
            <a:off x="1371600" y="2697480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BBCC"/>
                </a:solidFill>
              </a:rPr>
              <a:t>One script tag.  Any existing application.  Live data.  Grounded answers.  Zero hallucination.</a:t>
            </a:r>
            <a:endParaRPr lang="en-US" sz="1300" dirty="0"/>
          </a:p>
        </p:txBody>
      </p:sp>
      <p:sp>
        <p:nvSpPr>
          <p:cNvPr id="142" name="Shape 140"/>
          <p:cNvSpPr/>
          <p:nvPr/>
        </p:nvSpPr>
        <p:spPr>
          <a:xfrm>
            <a:off x="1645920" y="3291840"/>
            <a:ext cx="1920240" cy="1051560"/>
          </a:xfrm>
          <a:prstGeom prst="roundRect">
            <a:avLst>
              <a:gd name="adj" fmla="val 8696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42A5F5">
                <a:alpha val="35000"/>
              </a:srgbClr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1645920" y="333756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2A5F5"/>
                </a:solidFill>
              </a:rPr>
              <a:t>10</a:t>
            </a:r>
            <a:endParaRPr lang="en-US" sz="3200" dirty="0"/>
          </a:p>
        </p:txBody>
      </p:sp>
      <p:sp>
        <p:nvSpPr>
          <p:cNvPr id="144" name="Text 142"/>
          <p:cNvSpPr/>
          <p:nvPr/>
        </p:nvSpPr>
        <p:spPr>
          <a:xfrm>
            <a:off x="1645920" y="39319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BBCC"/>
                </a:solidFill>
              </a:rPr>
              <a:t>MCP Tools</a:t>
            </a:r>
            <a:endParaRPr lang="en-US" sz="950" dirty="0"/>
          </a:p>
        </p:txBody>
      </p:sp>
      <p:sp>
        <p:nvSpPr>
          <p:cNvPr id="145" name="Shape 143"/>
          <p:cNvSpPr/>
          <p:nvPr/>
        </p:nvSpPr>
        <p:spPr>
          <a:xfrm>
            <a:off x="3840480" y="3291840"/>
            <a:ext cx="1920240" cy="1051560"/>
          </a:xfrm>
          <a:prstGeom prst="roundRect">
            <a:avLst>
              <a:gd name="adj" fmla="val 8696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42A5F5">
                <a:alpha val="35000"/>
              </a:srgbClr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3840480" y="333756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C107"/>
                </a:solidFill>
              </a:rPr>
              <a:t>5</a:t>
            </a:r>
            <a:endParaRPr lang="en-US" sz="3200" dirty="0"/>
          </a:p>
        </p:txBody>
      </p:sp>
      <p:sp>
        <p:nvSpPr>
          <p:cNvPr id="147" name="Text 145"/>
          <p:cNvSpPr/>
          <p:nvPr/>
        </p:nvSpPr>
        <p:spPr>
          <a:xfrm>
            <a:off x="3840480" y="39319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BBCC"/>
                </a:solidFill>
              </a:rPr>
              <a:t>GCP Services</a:t>
            </a:r>
            <a:endParaRPr lang="en-US" sz="950" dirty="0"/>
          </a:p>
        </p:txBody>
      </p:sp>
      <p:sp>
        <p:nvSpPr>
          <p:cNvPr id="148" name="Shape 146"/>
          <p:cNvSpPr/>
          <p:nvPr/>
        </p:nvSpPr>
        <p:spPr>
          <a:xfrm>
            <a:off x="6035040" y="3291840"/>
            <a:ext cx="1920240" cy="1051560"/>
          </a:xfrm>
          <a:prstGeom prst="roundRect">
            <a:avLst>
              <a:gd name="adj" fmla="val 8696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42A5F5">
                <a:alpha val="35000"/>
              </a:srgbClr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6035040" y="333756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DB6AC"/>
                </a:solidFill>
              </a:rPr>
              <a:t>1</a:t>
            </a:r>
            <a:endParaRPr lang="en-US" sz="3200" dirty="0"/>
          </a:p>
        </p:txBody>
      </p:sp>
      <p:sp>
        <p:nvSpPr>
          <p:cNvPr id="150" name="Text 148"/>
          <p:cNvSpPr/>
          <p:nvPr/>
        </p:nvSpPr>
        <p:spPr>
          <a:xfrm>
            <a:off x="6035040" y="39319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BBCC"/>
                </a:solidFill>
              </a:rPr>
              <a:t>Script Tag</a:t>
            </a:r>
            <a:endParaRPr lang="en-US" sz="950" dirty="0"/>
          </a:p>
        </p:txBody>
      </p:sp>
      <p:sp>
        <p:nvSpPr>
          <p:cNvPr id="151" name="Shape 149"/>
          <p:cNvSpPr/>
          <p:nvPr/>
        </p:nvSpPr>
        <p:spPr>
          <a:xfrm>
            <a:off x="8229600" y="3291840"/>
            <a:ext cx="1920240" cy="1051560"/>
          </a:xfrm>
          <a:prstGeom prst="roundRect">
            <a:avLst>
              <a:gd name="adj" fmla="val 8696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42A5F5">
                <a:alpha val="35000"/>
              </a:srgbClr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8229600" y="333756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81C784"/>
                </a:solidFill>
              </a:rPr>
              <a:t>0</a:t>
            </a:r>
            <a:endParaRPr lang="en-US" sz="3200" dirty="0"/>
          </a:p>
        </p:txBody>
      </p:sp>
      <p:sp>
        <p:nvSpPr>
          <p:cNvPr id="153" name="Text 151"/>
          <p:cNvSpPr/>
          <p:nvPr/>
        </p:nvSpPr>
        <p:spPr>
          <a:xfrm>
            <a:off x="8229600" y="39319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BBCC"/>
                </a:solidFill>
              </a:rPr>
              <a:t>Hallucinations</a:t>
            </a:r>
            <a:endParaRPr lang="en-US" sz="950" dirty="0"/>
          </a:p>
        </p:txBody>
      </p:sp>
      <p:sp>
        <p:nvSpPr>
          <p:cNvPr id="154" name="Text 152"/>
          <p:cNvSpPr/>
          <p:nvPr/>
        </p:nvSpPr>
        <p:spPr>
          <a:xfrm>
            <a:off x="914400" y="6309360"/>
            <a:ext cx="10332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45566"/>
                </a:solidFill>
              </a:rPr>
              <a:t>Designed by Curiosity. Built by Discipline. Delivered by Nirav Mehta.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Internal Chatbot — Our Organization</dc:title>
  <dc:subject>PptxGenJS Presentation</dc:subject>
  <dc:creator>Nirav Mehta</dc:creator>
  <cp:lastModifiedBy>Nirav Mehta</cp:lastModifiedBy>
  <cp:revision>1</cp:revision>
  <dcterms:created xsi:type="dcterms:W3CDTF">2026-06-13T02:55:25Z</dcterms:created>
  <dcterms:modified xsi:type="dcterms:W3CDTF">2026-06-13T02:55:25Z</dcterms:modified>
</cp:coreProperties>
</file>