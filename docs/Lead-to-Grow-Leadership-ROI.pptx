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the team. Explain this is a candid, respectful conversation about how we lead. No blame — only growth. Set tone: open floor at the end.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empathy: 'I hear this from several of you and I want us to explore it together.' Acknowledge it's a real frustration. Then pivot: is the person the problem, or is there a leadership gap?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message: 'Your time with your team members is an investment, not a cost. The ROI compounds over time. Ignoring people problems early is the most expensive thing a lead can do.'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the group: How many hours per week do you actively invest in coaching vs. just managing deliverables? Pause for reflection.</a:t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'Have you ever had a manager who micro-managed you? How did it feel? Now think about your team.' Flip the mirror.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question: 'Do your team members know you trust them? Have you ever told them explicitly?' The power of saying 'I trust you to handle this' is massive.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idea: In your next team meeting, try going around the room for input on a real decision. See what surfaces that wouldn't have otherwise.</a:t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'How many of you are doing regular 1:1s? What's working, what isn't?' Share your own experience. Normalize making them a priority.</a:t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all 5 principles back to the center: the high-performing team is the goal. Every principle feeds it.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everyone 2 minutes to write their answer to Q4 before sharing. Then go around the room. Capture commitments on a whiteboard or shared doc — follow up in 2 weeks.</a:t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with energy. Thank them for engaging honestly. Tell them you're available for 1:1 conversations with anyone who wants to go deeper. Collect written commitments before they leave.</a:t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be0be148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be0be148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with energy. Thank them for engaging honestly. Tell them you're available for 1:1 conversations with anyone who wants to go deeper. Collect written commitments before they leave.</a:t>
            </a:r>
            <a:endParaRPr/>
          </a:p>
        </p:txBody>
      </p:sp>
      <p:sp>
        <p:nvSpPr>
          <p:cNvPr id="284" name="Google Shape;284;g3ebe0be148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F8B8D">
              <a:alpha val="25098"/>
            </a:srgbClr>
          </a:solidFill>
          <a:ln cap="flat" cmpd="sng" w="12700">
            <a:solidFill>
              <a:srgbClr val="0F8B8D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4A261">
              <a:alpha val="20000"/>
            </a:srgbClr>
          </a:solidFill>
          <a:ln cap="flat" cmpd="sng" w="12700">
            <a:solidFill>
              <a:srgbClr val="F4A26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STAFF LEADERSHIP MEETING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Lead to Grow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4231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The ROI of Investing in Your People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complaint-driven management to coach-driven leadership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Presented by Nirav Mehta  ·  Software Development Team Lead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TODAY'S AGENDA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1188720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8F4F8"/>
          </a:solidFill>
          <a:ln cap="flat" cmpd="sng" w="12700">
            <a:solidFill>
              <a:srgbClr val="C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1289304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2920" y="12893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97280" y="12527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The Problem Statement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97280" y="152704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we're hearing &amp; why it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1947672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2048256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2048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97280" y="2011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The Real ROI of Leadership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97280" y="228600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Investment vs. complaint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2706624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8F4F8"/>
          </a:solidFill>
          <a:ln cap="flat" cmpd="sng" w="12700">
            <a:solidFill>
              <a:srgbClr val="C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" y="2807208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97280" y="2770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5 Principles of Effective Team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97280" y="304495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Trust, inclusion, coaching &amp; more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3465576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E2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02920" y="3566160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3566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97280" y="352958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The 1:1 Framework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97280" y="380390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Regular conversations that actually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5760" y="4224528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8F4F8"/>
          </a:solidFill>
          <a:ln cap="flat" cmpd="sng" w="12700">
            <a:solidFill>
              <a:srgbClr val="C8E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" y="4325112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02920" y="43251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97280" y="428853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Open Floor Discussion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97280" y="45628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Your questions, concerns &amp; ideas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F9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·  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We Keep Hearing This…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1737360"/>
            <a:ext cx="8412480" cy="1234440"/>
          </a:xfrm>
          <a:prstGeom prst="roundRect">
            <a:avLst>
              <a:gd fmla="val 7407" name="adj"/>
            </a:avLst>
          </a:prstGeom>
          <a:solidFill>
            <a:srgbClr val="FFF0F0"/>
          </a:solidFill>
          <a:ln cap="flat" cmpd="sng" w="12700">
            <a:solidFill>
              <a:srgbClr val="F5C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0080" y="1810512"/>
            <a:ext cx="786384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“This team member was great before I became their lead — now they’re not performing at all. I don’t know what happened.”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— Pattern observed across multiple team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74320" y="3401568"/>
            <a:ext cx="274320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11480" y="34930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Has the PERSON changed?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3858768"/>
            <a:ext cx="24688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 has the environment, expectations &amp; leadership changed?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00400" y="3401568"/>
            <a:ext cx="274320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337560" y="34930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Are WE setting them up?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337560" y="3858768"/>
            <a:ext cx="24688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Clear goals, support, trust, and psychological safety?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26480" y="3401568"/>
            <a:ext cx="274320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63640" y="349300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Complaint ≠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63640" y="3858768"/>
            <a:ext cx="24688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Escalating friction without investing in the relationship yields zero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8B8D">
              <a:alpha val="20000"/>
            </a:srgbClr>
          </a:solidFill>
          <a:ln cap="flat" cmpd="sng" w="12700">
            <a:solidFill>
              <a:srgbClr val="0F8B8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02  ·  THE REAL ROI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Leadership is an Investment,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 a Title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2103120"/>
            <a:ext cx="3931920" cy="2651760"/>
          </a:xfrm>
          <a:prstGeom prst="roundRect">
            <a:avLst>
              <a:gd fmla="val 4138" name="adj"/>
            </a:avLst>
          </a:prstGeom>
          <a:solidFill>
            <a:srgbClr val="1F1010">
              <a:alpha val="80000"/>
            </a:srgbClr>
          </a:solidFill>
          <a:ln cap="flat" cmpd="sng" w="254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02920" y="22128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❌  Cost of NOT Investing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2920" y="260604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BAB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9BABA"/>
                </a:solidFill>
                <a:latin typeface="Calibri"/>
                <a:ea typeface="Calibri"/>
                <a:cs typeface="Calibri"/>
                <a:sym typeface="Calibri"/>
              </a:rPr>
              <a:t>Disengaged, underperforming team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9BAB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9BABA"/>
                </a:solidFill>
                <a:latin typeface="Calibri"/>
                <a:ea typeface="Calibri"/>
                <a:cs typeface="Calibri"/>
                <a:sym typeface="Calibri"/>
              </a:rPr>
              <a:t>Toxic blame culture spreads to whole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9BAB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9BABA"/>
                </a:solidFill>
                <a:latin typeface="Calibri"/>
                <a:ea typeface="Calibri"/>
                <a:cs typeface="Calibri"/>
                <a:sym typeface="Calibri"/>
              </a:rPr>
              <a:t>Attrition — losing talent you trained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9BAB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9BABA"/>
                </a:solidFill>
                <a:latin typeface="Calibri"/>
                <a:ea typeface="Calibri"/>
                <a:cs typeface="Calibri"/>
                <a:sym typeface="Calibri"/>
              </a:rPr>
              <a:t>Your own reputation suffers with leadership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9BAB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9BABA"/>
                </a:solidFill>
                <a:latin typeface="Calibri"/>
                <a:ea typeface="Calibri"/>
                <a:cs typeface="Calibri"/>
                <a:sym typeface="Calibri"/>
              </a:rPr>
              <a:t>Constant firefighting instead of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2103120"/>
            <a:ext cx="3931920" cy="2651760"/>
          </a:xfrm>
          <a:prstGeom prst="roundRect">
            <a:avLst>
              <a:gd fmla="val 4138" name="adj"/>
            </a:avLst>
          </a:prstGeom>
          <a:solidFill>
            <a:srgbClr val="0D2015">
              <a:alpha val="80000"/>
            </a:srgbClr>
          </a:solidFill>
          <a:ln cap="flat" cmpd="sng" w="254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983480" y="22128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✅  Return on Investing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983480" y="260604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F0C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8F0C6"/>
                </a:solidFill>
                <a:latin typeface="Calibri"/>
                <a:ea typeface="Calibri"/>
                <a:cs typeface="Calibri"/>
                <a:sym typeface="Calibri"/>
              </a:rPr>
              <a:t>High-performing, motivated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A8F0C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8F0C6"/>
                </a:solidFill>
                <a:latin typeface="Calibri"/>
                <a:ea typeface="Calibri"/>
                <a:cs typeface="Calibri"/>
                <a:sym typeface="Calibri"/>
              </a:rPr>
              <a:t>Team members grow into future leads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A8F0C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8F0C6"/>
                </a:solidFill>
                <a:latin typeface="Calibri"/>
                <a:ea typeface="Calibri"/>
                <a:cs typeface="Calibri"/>
                <a:sym typeface="Calibri"/>
              </a:rPr>
              <a:t>You build a reputation as a talent multiplier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A8F0C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8F0C6"/>
                </a:solidFill>
                <a:latin typeface="Calibri"/>
                <a:ea typeface="Calibri"/>
                <a:cs typeface="Calibri"/>
                <a:sym typeface="Calibri"/>
              </a:rPr>
              <a:t>Predictable delivery &amp; quality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A8F0C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A8F0C6"/>
                </a:solidFill>
                <a:latin typeface="Calibri"/>
                <a:ea typeface="Calibri"/>
                <a:cs typeface="Calibri"/>
                <a:sym typeface="Calibri"/>
              </a:rPr>
              <a:t>Team defends &amp; supports you proactively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·  5 PRINCIPLES OF EFFECTIVE TEAM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20040" y="1188720"/>
            <a:ext cx="1572768" cy="3566160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68680" y="1389888"/>
            <a:ext cx="475488" cy="475488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868680" y="1389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29768" y="201168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Invest Time, Not Just Effort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020824" y="1188720"/>
            <a:ext cx="1572768" cy="3566160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569464" y="1389888"/>
            <a:ext cx="475488" cy="47548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2569464" y="1389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130552" y="201168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Manage — Don't Micro-Manage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721608" y="1188720"/>
            <a:ext cx="1572768" cy="3566160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270248" y="1389888"/>
            <a:ext cx="475488" cy="47548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270248" y="1389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831336" y="201168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Trust Your Team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22392" y="1188720"/>
            <a:ext cx="1572768" cy="3566160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971032" y="1389888"/>
            <a:ext cx="475488" cy="475488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971032" y="1389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532120" y="201168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Radical Inclusion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123176" y="1188720"/>
            <a:ext cx="1572768" cy="3566160"/>
          </a:xfrm>
          <a:prstGeom prst="roundRect">
            <a:avLst>
              <a:gd fmla="val 581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671816" y="1389888"/>
            <a:ext cx="475488" cy="47548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671816" y="1389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232904" y="201168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Regular 1:1s That Matter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principle explored in detail on the next slides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PRINCIPLE 1  ·  INVEST TIME, NOT JUST EFFORT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74320" y="1051560"/>
            <a:ext cx="3474720" cy="3474720"/>
          </a:xfrm>
          <a:prstGeom prst="ellipse">
            <a:avLst/>
          </a:prstGeom>
          <a:solidFill>
            <a:srgbClr val="0F8B8D">
              <a:alpha val="14901"/>
            </a:srgbClr>
          </a:solidFill>
          <a:ln cap="flat" cmpd="sng" w="12700">
            <a:solidFill>
              <a:srgbClr val="0F8B8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274320" y="146304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0F8B8D"/>
                </a:solidFill>
                <a:latin typeface="Cambria"/>
                <a:ea typeface="Cambria"/>
                <a:cs typeface="Cambria"/>
                <a:sym typeface="Cambria"/>
              </a:rPr>
              <a:t>3x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74320" y="29718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more likely to stay &amp; thrive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when leads actively invest in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114800" y="105156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Your time is the most powerful leadership tool you have.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114800" y="1691640"/>
            <a:ext cx="46634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297680" y="173736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Schedule it deliberately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297680" y="2002536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 time on your calendar for team development — it won't happen by accident.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114800" y="2496312"/>
            <a:ext cx="46634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297680" y="254203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Learn how they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297680" y="2807208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Different team members need different coaching styles. Observe before judging.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14800" y="3300984"/>
            <a:ext cx="46634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4297680" y="334670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Don't spoon-feed — scaffold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297680" y="361188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Give them enough to move forward, then step back. Guide the path, don't walk it for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114800" y="4105656"/>
            <a:ext cx="46634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1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297680" y="4151376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Progress over perfection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297680" y="4416552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Reward momentum. A growing team member beats a stalled expert every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PRINCIPLE 2  ·  MANAGE — DON'T MICRO-MANAGE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Micro-management is the fastest way to kill autonomy, creativity, and morale.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74320" y="1645920"/>
            <a:ext cx="4023360" cy="3108960"/>
          </a:xfrm>
          <a:prstGeom prst="roundRect">
            <a:avLst>
              <a:gd fmla="val 2941" name="adj"/>
            </a:avLst>
          </a:prstGeom>
          <a:solidFill>
            <a:srgbClr val="FFF5F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57200" y="17373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❌  Micro-Management Looks Like…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214884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Checking in every few hours on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Telling them HOW to do every 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Overriding decisions they're capable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Reviewing every line of code / every 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Team stops thinking — waits for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846320" y="1645920"/>
            <a:ext cx="4023360" cy="3108960"/>
          </a:xfrm>
          <a:prstGeom prst="roundRect">
            <a:avLst>
              <a:gd fmla="val 2941" name="adj"/>
            </a:avLst>
          </a:prstGeom>
          <a:solidFill>
            <a:srgbClr val="F0FF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029200" y="17373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 Effective Management Looks Like…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029200" y="214884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Define WHAT success looks like, let them find HOW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Set clear goals with deadlines &amp; check-ins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Delegate decision-making at the right 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Review outcomes &amp; quality, not every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Team grows, takes ownership, feels valued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PRINCIPLE 3  ·  TRUST YOUR TEAM MEMBERS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57200" y="65836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Trust is not given once.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It's built daily.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320040" y="2011680"/>
            <a:ext cx="2743200" cy="2651760"/>
          </a:xfrm>
          <a:prstGeom prst="roundRect">
            <a:avLst>
              <a:gd fmla="val 4138" name="adj"/>
            </a:avLst>
          </a:prstGeom>
          <a:solidFill>
            <a:srgbClr val="2E1065">
              <a:alpha val="8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320040" y="2011680"/>
            <a:ext cx="2743200" cy="228600"/>
          </a:xfrm>
          <a:prstGeom prst="roundRect">
            <a:avLst>
              <a:gd fmla="val 4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457200" y="23042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4B5FD"/>
                </a:solidFill>
                <a:latin typeface="Cambria"/>
                <a:ea typeface="Cambria"/>
                <a:cs typeface="Cambria"/>
                <a:sym typeface="Cambria"/>
              </a:rPr>
              <a:t>Assume Good Intent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2852928"/>
            <a:ext cx="24688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F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D6FE"/>
                </a:solidFill>
                <a:latin typeface="Calibri"/>
                <a:ea typeface="Calibri"/>
                <a:cs typeface="Calibri"/>
                <a:sym typeface="Calibri"/>
              </a:rPr>
              <a:t>When someone misses a deadline or makes a mistake, start with curiosity — not judgment. Ask 'What got in the way?' before 'Why didn't you do this?'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3246120" y="2011680"/>
            <a:ext cx="2743200" cy="2651760"/>
          </a:xfrm>
          <a:prstGeom prst="roundRect">
            <a:avLst>
              <a:gd fmla="val 4138" name="adj"/>
            </a:avLst>
          </a:prstGeom>
          <a:solidFill>
            <a:srgbClr val="2E1065">
              <a:alpha val="8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3246120" y="2011680"/>
            <a:ext cx="2743200" cy="228600"/>
          </a:xfrm>
          <a:prstGeom prst="roundRect">
            <a:avLst>
              <a:gd fmla="val 4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3383280" y="23042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4B5FD"/>
                </a:solidFill>
                <a:latin typeface="Cambria"/>
                <a:ea typeface="Cambria"/>
                <a:cs typeface="Cambria"/>
                <a:sym typeface="Cambria"/>
              </a:rPr>
              <a:t>Give Autonomy with Accountability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3383280" y="2852928"/>
            <a:ext cx="24688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F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D6FE"/>
                </a:solidFill>
                <a:latin typeface="Calibri"/>
                <a:ea typeface="Calibri"/>
                <a:cs typeface="Calibri"/>
                <a:sym typeface="Calibri"/>
              </a:rPr>
              <a:t>Trust them to find the right path. Hold them to the agreed outcome. Don't rescue them before they've had a chance to succeed.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172200" y="2011680"/>
            <a:ext cx="2743200" cy="2651760"/>
          </a:xfrm>
          <a:prstGeom prst="roundRect">
            <a:avLst>
              <a:gd fmla="val 4138" name="adj"/>
            </a:avLst>
          </a:prstGeom>
          <a:solidFill>
            <a:srgbClr val="2E1065">
              <a:alpha val="8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6172200" y="2011680"/>
            <a:ext cx="2743200" cy="228600"/>
          </a:xfrm>
          <a:prstGeom prst="roundRect">
            <a:avLst>
              <a:gd fmla="val 40000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6309360" y="230428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4B5FD"/>
                </a:solidFill>
                <a:latin typeface="Cambria"/>
                <a:ea typeface="Cambria"/>
                <a:cs typeface="Cambria"/>
                <a:sym typeface="Cambria"/>
              </a:rPr>
              <a:t>Be Consistent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309360" y="2852928"/>
            <a:ext cx="24688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F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DD6FE"/>
                </a:solidFill>
                <a:latin typeface="Calibri"/>
                <a:ea typeface="Calibri"/>
                <a:cs typeface="Calibri"/>
                <a:sym typeface="Calibri"/>
              </a:rPr>
              <a:t>Trust is destroyed by inconsistency. If you say something, follow through. If you change direction, explain why.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PRINCIPLE 4  ·  RADICAL INCLUSION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Every voice has value. Make them feel it.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274320" y="169164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11480" y="17830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🙋  Invite Opinions Explicitly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11480" y="21488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meetings, directly ask quieter team members: 'What do you think about this?' Don't let louder voices dominate.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154680" y="169164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3291840" y="17830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💡  Credit Ideas Publicly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3291840" y="21488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someone's idea is used, name them. 'This approach came from [Name], who flagged it in our last standup.' Watch their confidence grow.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035040" y="169164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6172200" y="17830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🗳️  Include in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172200" y="214884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decisions that affect the team, bring them into the room before the conclusion, not after. Inclusion means input matters.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274320" y="333756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41148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🚫  No Side Conversations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11480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 making key decisions in back-channels and presenting them as 'already decided.' This is the fastest way to disengage a team member.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154680" y="333756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329184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🔄  Close the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3291840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an idea isn't used, explain why. 'We went a different direction because X — but your input led us to think about Y differently.'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035040" y="3337560"/>
            <a:ext cx="274320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172200" y="34290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🌱  Grow Them Into Leaders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172200" y="3794760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Give team members ownership of initiatives. Let them present to stakeholders. Make them visible to the broader organization.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PRINCIPLE 5  ·  REGULAR 1:1s THAT MATTER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1:1s are not status updates.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They are your most important leadership tool.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74320" y="1965960"/>
            <a:ext cx="2743200" cy="2880360"/>
          </a:xfrm>
          <a:prstGeom prst="roundRect">
            <a:avLst>
              <a:gd fmla="val 333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41148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🗓️  Cadence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11480" y="2542032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or bi-weekly — non-negotiable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30–45 min dedicated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cancel — reschedule if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Their agenda first, yours second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154680" y="1965960"/>
            <a:ext cx="2743200" cy="2880360"/>
          </a:xfrm>
          <a:prstGeom prst="roundRect">
            <a:avLst>
              <a:gd fmla="val 333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329184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🗣️  Topics to Cover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3291840" y="2542032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are you doing? (Whole person)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What's going well? What's hard?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 blockers or frustrations?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do you need from me?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Career goals &amp; growth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035040" y="1965960"/>
            <a:ext cx="2743200" cy="2880360"/>
          </a:xfrm>
          <a:prstGeom prst="roundRect">
            <a:avLst>
              <a:gd fmla="val 3333" name="adj"/>
            </a:avLst>
          </a:prstGeom>
          <a:solidFill>
            <a:srgbClr val="FFF5F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617220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🚫  What NOT To 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172200" y="2542032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make it a status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dominate the conversation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bring in unrelated surprises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skip it for 'busy' reasons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Don't take notes they can't see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F8B8D">
              <a:alpha val="14901"/>
            </a:srgbClr>
          </a:solidFill>
          <a:ln cap="flat" cmpd="sng" w="12700">
            <a:solidFill>
              <a:srgbClr val="0F8B8D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4A261">
              <a:alpha val="14901"/>
            </a:srgbClr>
          </a:solidFill>
          <a:ln cap="flat" cmpd="sng" w="12700">
            <a:solidFill>
              <a:srgbClr val="F4A261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Lead-from-Strength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3520440" y="1737360"/>
            <a:ext cx="2103120" cy="210312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3520440" y="1737360"/>
            <a:ext cx="21031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HIGH-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PERFORMING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3"/>
          <p:cNvCxnSpPr/>
          <p:nvPr/>
        </p:nvCxnSpPr>
        <p:spPr>
          <a:xfrm>
            <a:off x="1188720" y="1554480"/>
            <a:ext cx="3383280" cy="1234440"/>
          </a:xfrm>
          <a:prstGeom prst="straightConnector1">
            <a:avLst/>
          </a:prstGeom>
          <a:noFill/>
          <a:ln cap="flat" cmpd="sng" w="12700">
            <a:solidFill>
              <a:srgbClr val="0F8B8D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29" name="Google Shape;229;p13"/>
          <p:cNvCxnSpPr/>
          <p:nvPr/>
        </p:nvCxnSpPr>
        <p:spPr>
          <a:xfrm>
            <a:off x="4572000" y="1554480"/>
            <a:ext cx="3063240" cy="1234440"/>
          </a:xfrm>
          <a:prstGeom prst="straightConnector1">
            <a:avLst/>
          </a:prstGeom>
          <a:noFill/>
          <a:ln cap="flat" cmpd="sng" w="12700">
            <a:solidFill>
              <a:srgbClr val="0F8B8D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0" name="Google Shape;230;p13"/>
          <p:cNvCxnSpPr/>
          <p:nvPr/>
        </p:nvCxnSpPr>
        <p:spPr>
          <a:xfrm>
            <a:off x="1188720" y="2788920"/>
            <a:ext cx="3383280" cy="594360"/>
          </a:xfrm>
          <a:prstGeom prst="straightConnector1">
            <a:avLst/>
          </a:prstGeom>
          <a:noFill/>
          <a:ln cap="flat" cmpd="sng" w="12700">
            <a:solidFill>
              <a:srgbClr val="0F8B8D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1" name="Google Shape;231;p13"/>
          <p:cNvCxnSpPr/>
          <p:nvPr/>
        </p:nvCxnSpPr>
        <p:spPr>
          <a:xfrm>
            <a:off x="4572000" y="2788920"/>
            <a:ext cx="3063240" cy="594360"/>
          </a:xfrm>
          <a:prstGeom prst="straightConnector1">
            <a:avLst/>
          </a:prstGeom>
          <a:noFill/>
          <a:ln cap="flat" cmpd="sng" w="12700">
            <a:solidFill>
              <a:srgbClr val="0F8B8D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4572000" y="2788920"/>
            <a:ext cx="0" cy="1984248"/>
          </a:xfrm>
          <a:prstGeom prst="straightConnector1">
            <a:avLst/>
          </a:prstGeom>
          <a:noFill/>
          <a:ln cap="flat" cmpd="sng" w="12700">
            <a:solidFill>
              <a:srgbClr val="0F8B8D">
                <a:alpha val="40000"/>
              </a:srgbClr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3" name="Google Shape;233;p13"/>
          <p:cNvSpPr/>
          <p:nvPr/>
        </p:nvSpPr>
        <p:spPr>
          <a:xfrm>
            <a:off x="274320" y="1097280"/>
            <a:ext cx="1828800" cy="91440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27432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583680" y="1097280"/>
            <a:ext cx="1828800" cy="91440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658368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Don't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Micro-Manage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274320" y="2926080"/>
            <a:ext cx="1828800" cy="91440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274320" y="29260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583680" y="2926080"/>
            <a:ext cx="1828800" cy="91440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6583680" y="29260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Radical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657600" y="4297680"/>
            <a:ext cx="1828800" cy="91440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3657600" y="42976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 1:1s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·  OPEN FLOOR DISCUSSION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57200" y="10789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A2744"/>
                </a:solidFill>
                <a:latin typeface="Cambria"/>
                <a:ea typeface="Cambria"/>
                <a:cs typeface="Cambria"/>
                <a:sym typeface="Cambria"/>
              </a:rPr>
              <a:t>This is a safe space. Every perspective matters.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Discussion Starter Questions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365760" y="2084832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8F4F8"/>
          </a:solidFill>
          <a:ln cap="flat" cmpd="sng" w="12700">
            <a:solidFill>
              <a:srgbClr val="D1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502920" y="2185416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502920" y="21854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097280" y="2212848"/>
            <a:ext cx="7498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What's one thing your team member needs from you that you haven't been providing?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65760" y="2834640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02920" y="2935224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502920" y="2935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097280" y="2962656"/>
            <a:ext cx="7498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do you feel you're managing well — and where do you want to grow?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365760" y="3584448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E8F4F8"/>
          </a:solidFill>
          <a:ln cap="flat" cmpd="sng" w="12700">
            <a:solidFill>
              <a:srgbClr val="D1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502920" y="3685032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502920" y="3685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1097280" y="3712464"/>
            <a:ext cx="7498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support do you need from ME to become a better coach to your team?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65760" y="4334256"/>
            <a:ext cx="8412480" cy="658368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D1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097280" y="4462272"/>
            <a:ext cx="7498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What's one concrete change you'll commit to implementing next week?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F8B8D">
              <a:alpha val="20000"/>
            </a:srgbClr>
          </a:solidFill>
          <a:ln cap="flat" cmpd="sng" w="12700">
            <a:solidFill>
              <a:srgbClr val="0F8B8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F4A261">
              <a:alpha val="14901"/>
            </a:srgbClr>
          </a:solidFill>
          <a:ln cap="flat" cmpd="sng" w="12700">
            <a:solidFill>
              <a:srgbClr val="F4A261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457200" y="6400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200"/>
              <a:buFont typeface="Cambria"/>
              <a:buNone/>
            </a:pPr>
            <a:r>
              <a:rPr b="1" i="1" lang="en-US" sz="3200" u="none" cap="none" strike="noStrik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Your team reflects your leadership.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Invest. Trust. Include. Coach. Listen.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57200" y="2212848"/>
            <a:ext cx="4114800" cy="36576"/>
          </a:xfrm>
          <a:prstGeom prst="rect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This week's commitment: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457200" y="278892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Schedule a 1:1 with every direct report this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Go into that 1:1 with ONE question: 'What do you need from me?'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Listen more than you talk — 80/20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Follow up on what you hear within 48 hours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mbria"/>
                <a:ea typeface="Cambria"/>
                <a:cs typeface="Cambria"/>
                <a:sym typeface="Cambria"/>
              </a:rPr>
              <a:t>"The best managers don't build teams that depend on them — they build teams that thrive without them."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F8B8D">
              <a:alpha val="20000"/>
            </a:srgbClr>
          </a:solidFill>
          <a:ln cap="flat" cmpd="sng" w="12700">
            <a:solidFill>
              <a:srgbClr val="0F8B8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F4A261">
              <a:alpha val="14900"/>
            </a:srgbClr>
          </a:solidFill>
          <a:ln cap="flat" cmpd="sng" w="12700">
            <a:solidFill>
              <a:srgbClr val="F4A261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457200" y="640080"/>
            <a:ext cx="7772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200"/>
              <a:buFont typeface="Cambria"/>
              <a:buNone/>
            </a:pPr>
            <a:r>
              <a:rPr b="1" i="1" lang="en-US" sz="2800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Now this shows that you’ve gone through entire presentation, now append your name here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457200" y="15087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Invest. Trust. Include. Coach. Listen.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457200" y="2212848"/>
            <a:ext cx="4114800" cy="36600"/>
          </a:xfrm>
          <a:prstGeom prst="rect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457200" y="2377440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List of team members who have read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457200" y="2788920"/>
            <a:ext cx="7772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&lt;&lt;Your name&gt;&gt;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&lt;&lt;Your name&gt;&gt;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&lt;&lt;Your name&gt;&gt;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&lt;&lt;Your name&gt;&gt;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457200" y="45262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mbria"/>
                <a:ea typeface="Cambria"/>
                <a:cs typeface="Cambria"/>
                <a:sym typeface="Cambria"/>
              </a:rPr>
              <a:t>"The best managers don't build teams that depend on them — they build teams that thrive without them."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